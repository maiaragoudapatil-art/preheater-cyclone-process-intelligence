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7575" y="2166048"/>
            <a:ext cx="4549775" cy="3625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60169" y="609218"/>
            <a:ext cx="9471660" cy="130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8005" y="1862137"/>
            <a:ext cx="5287645" cy="4140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786254" y="39306"/>
            <a:ext cx="8622665" cy="1593850"/>
          </a:xfrm>
          <a:prstGeom prst="rect"/>
        </p:spPr>
        <p:txBody>
          <a:bodyPr wrap="square" lIns="0" tIns="104140" rIns="0" bIns="0" rtlCol="0" vert="horz">
            <a:spAutoFit/>
          </a:bodyPr>
          <a:lstStyle/>
          <a:p>
            <a:pPr marL="2953385" marR="5080" indent="-2941320">
              <a:lnSpc>
                <a:spcPts val="5860"/>
              </a:lnSpc>
              <a:spcBef>
                <a:spcPts val="820"/>
              </a:spcBef>
            </a:pPr>
            <a:r>
              <a:rPr dirty="0" sz="5400" spc="-170" b="0">
                <a:latin typeface="Trebuchet MS"/>
                <a:cs typeface="Trebuchet MS"/>
              </a:rPr>
              <a:t>Cyclone</a:t>
            </a:r>
            <a:r>
              <a:rPr dirty="0" sz="5400" spc="-605" b="0">
                <a:latin typeface="Trebuchet MS"/>
                <a:cs typeface="Trebuchet MS"/>
              </a:rPr>
              <a:t> </a:t>
            </a:r>
            <a:r>
              <a:rPr dirty="0" sz="5400" spc="-330" b="0">
                <a:latin typeface="Trebuchet MS"/>
                <a:cs typeface="Trebuchet MS"/>
              </a:rPr>
              <a:t>Preheater</a:t>
            </a:r>
            <a:r>
              <a:rPr dirty="0" sz="5400" spc="-575" b="0">
                <a:latin typeface="Trebuchet MS"/>
                <a:cs typeface="Trebuchet MS"/>
              </a:rPr>
              <a:t> </a:t>
            </a:r>
            <a:r>
              <a:rPr dirty="0" sz="5400" spc="-295" b="0">
                <a:latin typeface="Trebuchet MS"/>
                <a:cs typeface="Trebuchet MS"/>
              </a:rPr>
              <a:t>Abnormality </a:t>
            </a:r>
            <a:r>
              <a:rPr dirty="0" sz="5400" spc="-140" b="0">
                <a:latin typeface="Trebuchet MS"/>
                <a:cs typeface="Trebuchet MS"/>
              </a:rPr>
              <a:t>Detection</a:t>
            </a:r>
            <a:endParaRPr sz="5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pc="-105"/>
              <a:t>Problem</a:t>
            </a:r>
            <a:r>
              <a:rPr dirty="0" spc="-125"/>
              <a:t> </a:t>
            </a:r>
            <a:r>
              <a:rPr dirty="0" spc="-10"/>
              <a:t>Statement</a:t>
            </a:r>
          </a:p>
          <a:p>
            <a:pPr marL="25400" marR="5080">
              <a:lnSpc>
                <a:spcPts val="2180"/>
              </a:lnSpc>
              <a:spcBef>
                <a:spcPts val="75"/>
              </a:spcBef>
            </a:pPr>
            <a:r>
              <a:rPr dirty="0" spc="-40" b="0">
                <a:latin typeface="Tahoma"/>
                <a:cs typeface="Tahoma"/>
              </a:rPr>
              <a:t>Identify</a:t>
            </a:r>
            <a:r>
              <a:rPr dirty="0" spc="-22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time</a:t>
            </a:r>
            <a:r>
              <a:rPr dirty="0" spc="-130" b="0">
                <a:latin typeface="Tahoma"/>
                <a:cs typeface="Tahoma"/>
              </a:rPr>
              <a:t> </a:t>
            </a:r>
            <a:r>
              <a:rPr dirty="0" b="0">
                <a:latin typeface="Tahoma"/>
                <a:cs typeface="Tahoma"/>
              </a:rPr>
              <a:t>periods</a:t>
            </a:r>
            <a:r>
              <a:rPr dirty="0" spc="-130" b="0">
                <a:latin typeface="Tahoma"/>
                <a:cs typeface="Tahoma"/>
              </a:rPr>
              <a:t> </a:t>
            </a:r>
            <a:r>
              <a:rPr dirty="0" spc="-35" b="0">
                <a:latin typeface="Tahoma"/>
                <a:cs typeface="Tahoma"/>
              </a:rPr>
              <a:t>where</a:t>
            </a:r>
            <a:r>
              <a:rPr dirty="0" spc="-215" b="0">
                <a:latin typeface="Tahoma"/>
                <a:cs typeface="Tahoma"/>
              </a:rPr>
              <a:t> </a:t>
            </a:r>
            <a:r>
              <a:rPr dirty="0" spc="-20" b="0">
                <a:latin typeface="Tahoma"/>
                <a:cs typeface="Tahoma"/>
              </a:rPr>
              <a:t>the</a:t>
            </a:r>
            <a:r>
              <a:rPr dirty="0" spc="-130" b="0">
                <a:latin typeface="Tahoma"/>
                <a:cs typeface="Tahoma"/>
              </a:rPr>
              <a:t> </a:t>
            </a:r>
            <a:r>
              <a:rPr dirty="0" b="0">
                <a:latin typeface="Tahoma"/>
                <a:cs typeface="Tahoma"/>
              </a:rPr>
              <a:t>cyclone</a:t>
            </a:r>
            <a:r>
              <a:rPr dirty="0" spc="-21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preheater exhibits</a:t>
            </a:r>
            <a:r>
              <a:rPr dirty="0" spc="-210" b="0">
                <a:latin typeface="Tahoma"/>
                <a:cs typeface="Tahoma"/>
              </a:rPr>
              <a:t> </a:t>
            </a:r>
            <a:r>
              <a:rPr dirty="0" b="0">
                <a:latin typeface="Tahoma"/>
                <a:cs typeface="Tahoma"/>
              </a:rPr>
              <a:t>abnormal</a:t>
            </a:r>
            <a:r>
              <a:rPr dirty="0" spc="-180" b="0">
                <a:latin typeface="Tahoma"/>
                <a:cs typeface="Tahoma"/>
              </a:rPr>
              <a:t> </a:t>
            </a:r>
            <a:r>
              <a:rPr dirty="0" spc="-35" b="0">
                <a:latin typeface="Tahoma"/>
                <a:cs typeface="Tahoma"/>
              </a:rPr>
              <a:t>operating</a:t>
            </a:r>
            <a:r>
              <a:rPr dirty="0" spc="-120" b="0">
                <a:latin typeface="Tahoma"/>
                <a:cs typeface="Tahoma"/>
              </a:rPr>
              <a:t> </a:t>
            </a:r>
            <a:r>
              <a:rPr dirty="0" spc="-25" b="0">
                <a:latin typeface="Tahoma"/>
                <a:cs typeface="Tahoma"/>
              </a:rPr>
              <a:t>behaviour</a:t>
            </a:r>
            <a:r>
              <a:rPr dirty="0" spc="-165" b="0">
                <a:latin typeface="Tahoma"/>
                <a:cs typeface="Tahoma"/>
              </a:rPr>
              <a:t> </a:t>
            </a:r>
            <a:r>
              <a:rPr dirty="0" spc="-30" b="0">
                <a:latin typeface="Tahoma"/>
                <a:cs typeface="Tahoma"/>
              </a:rPr>
              <a:t>from</a:t>
            </a:r>
            <a:r>
              <a:rPr dirty="0" spc="-20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historical </a:t>
            </a:r>
            <a:r>
              <a:rPr dirty="0" b="0">
                <a:latin typeface="Tahoma"/>
                <a:cs typeface="Tahoma"/>
              </a:rPr>
              <a:t>sensor</a:t>
            </a:r>
            <a:r>
              <a:rPr dirty="0" spc="-160" b="0">
                <a:latin typeface="Tahoma"/>
                <a:cs typeface="Tahoma"/>
              </a:rPr>
              <a:t> </a:t>
            </a:r>
            <a:r>
              <a:rPr dirty="0" spc="-20" b="0">
                <a:latin typeface="Tahoma"/>
                <a:cs typeface="Tahoma"/>
              </a:rPr>
              <a:t>data.</a:t>
            </a:r>
          </a:p>
          <a:p>
            <a:pPr algn="just" marL="25400" marR="346710">
              <a:lnSpc>
                <a:spcPct val="99100"/>
              </a:lnSpc>
              <a:spcBef>
                <a:spcPts val="360"/>
              </a:spcBef>
            </a:pPr>
            <a:r>
              <a:rPr dirty="0">
                <a:latin typeface="Times New Roman"/>
                <a:cs typeface="Times New Roman"/>
              </a:rPr>
              <a:t>Objective:</a:t>
            </a:r>
            <a:r>
              <a:rPr dirty="0" spc="-35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-</a:t>
            </a:r>
            <a:r>
              <a:rPr dirty="0" spc="-15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Identify</a:t>
            </a:r>
            <a:r>
              <a:rPr dirty="0" spc="-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time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periods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where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-60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cyclone </a:t>
            </a:r>
            <a:r>
              <a:rPr dirty="0" b="0">
                <a:latin typeface="Times New Roman"/>
                <a:cs typeface="Times New Roman"/>
              </a:rPr>
              <a:t>preheater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operates</a:t>
            </a:r>
            <a:r>
              <a:rPr dirty="0" spc="-5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differently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from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its</a:t>
            </a:r>
            <a:r>
              <a:rPr dirty="0" spc="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normal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process </a:t>
            </a:r>
            <a:r>
              <a:rPr dirty="0" b="0">
                <a:latin typeface="Times New Roman"/>
                <a:cs typeface="Times New Roman"/>
              </a:rPr>
              <a:t>behaviour</a:t>
            </a:r>
            <a:r>
              <a:rPr dirty="0" spc="-2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using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historical</a:t>
            </a:r>
            <a:r>
              <a:rPr dirty="0" spc="-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sensor</a:t>
            </a:r>
            <a:r>
              <a:rPr dirty="0" spc="-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data.</a:t>
            </a:r>
          </a:p>
          <a:p>
            <a:pPr marL="12700">
              <a:lnSpc>
                <a:spcPct val="100000"/>
              </a:lnSpc>
              <a:spcBef>
                <a:spcPts val="1689"/>
              </a:spcBef>
            </a:pPr>
            <a:r>
              <a:rPr dirty="0">
                <a:latin typeface="Times New Roman"/>
                <a:cs typeface="Times New Roman"/>
              </a:rPr>
              <a:t>Dataset</a:t>
            </a:r>
            <a:r>
              <a:rPr dirty="0" b="0">
                <a:latin typeface="Times New Roman"/>
                <a:cs typeface="Times New Roman"/>
              </a:rPr>
              <a:t>:-</a:t>
            </a:r>
          </a:p>
          <a:p>
            <a:pPr marL="412750" marR="412750" indent="-400685">
              <a:lnSpc>
                <a:spcPct val="100800"/>
              </a:lnSpc>
              <a:buChar char="•"/>
              <a:tabLst>
                <a:tab pos="412750" algn="l"/>
              </a:tabLst>
            </a:pPr>
            <a:r>
              <a:rPr dirty="0" b="0">
                <a:latin typeface="Times New Roman"/>
                <a:cs typeface="Times New Roman"/>
              </a:rPr>
              <a:t>377,719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observations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collected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from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the</a:t>
            </a:r>
            <a:r>
              <a:rPr dirty="0" spc="1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cyclone preheater</a:t>
            </a:r>
          </a:p>
          <a:p>
            <a:pPr marL="412750" indent="-400050">
              <a:lnSpc>
                <a:spcPts val="2130"/>
              </a:lnSpc>
              <a:spcBef>
                <a:spcPts val="20"/>
              </a:spcBef>
              <a:buChar char="•"/>
              <a:tabLst>
                <a:tab pos="412750" algn="l"/>
              </a:tabLst>
            </a:pPr>
            <a:r>
              <a:rPr dirty="0" b="0">
                <a:latin typeface="Times New Roman"/>
                <a:cs typeface="Times New Roman"/>
              </a:rPr>
              <a:t>6 process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sensors</a:t>
            </a:r>
            <a:r>
              <a:rPr dirty="0" spc="5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measuring temperature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and </a:t>
            </a:r>
            <a:r>
              <a:rPr dirty="0" spc="-10" b="0">
                <a:latin typeface="Times New Roman"/>
                <a:cs typeface="Times New Roman"/>
              </a:rPr>
              <a:t>draft</a:t>
            </a:r>
          </a:p>
          <a:p>
            <a:pPr marL="412750" indent="-400050">
              <a:lnSpc>
                <a:spcPts val="2130"/>
              </a:lnSpc>
              <a:buChar char="•"/>
              <a:tabLst>
                <a:tab pos="412750" algn="l"/>
              </a:tabLst>
            </a:pPr>
            <a:r>
              <a:rPr dirty="0" b="0">
                <a:latin typeface="Times New Roman"/>
                <a:cs typeface="Times New Roman"/>
              </a:rPr>
              <a:t>Data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recorded</a:t>
            </a:r>
            <a:r>
              <a:rPr dirty="0" spc="1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at</a:t>
            </a:r>
            <a:r>
              <a:rPr dirty="0" spc="40" b="0">
                <a:latin typeface="Times New Roman"/>
                <a:cs typeface="Times New Roman"/>
              </a:rPr>
              <a:t> </a:t>
            </a:r>
            <a:r>
              <a:rPr dirty="0" spc="-30" b="0">
                <a:latin typeface="Times New Roman"/>
                <a:cs typeface="Times New Roman"/>
              </a:rPr>
              <a:t>5-</a:t>
            </a:r>
            <a:r>
              <a:rPr dirty="0" b="0">
                <a:latin typeface="Times New Roman"/>
                <a:cs typeface="Times New Roman"/>
              </a:rPr>
              <a:t>minute</a:t>
            </a:r>
            <a:r>
              <a:rPr dirty="0" spc="3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intervals</a:t>
            </a:r>
          </a:p>
          <a:p>
            <a:pPr marL="412750" indent="-400050">
              <a:lnSpc>
                <a:spcPct val="100000"/>
              </a:lnSpc>
              <a:spcBef>
                <a:spcPts val="15"/>
              </a:spcBef>
              <a:buChar char="•"/>
              <a:tabLst>
                <a:tab pos="412750" algn="l"/>
              </a:tabLst>
            </a:pPr>
            <a:r>
              <a:rPr dirty="0" b="0">
                <a:latin typeface="Times New Roman"/>
                <a:cs typeface="Times New Roman"/>
              </a:rPr>
              <a:t>Covers</a:t>
            </a:r>
            <a:r>
              <a:rPr dirty="0" spc="-3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approximately 3.5 years</a:t>
            </a:r>
            <a:r>
              <a:rPr dirty="0" spc="-2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of</a:t>
            </a:r>
            <a:r>
              <a:rPr dirty="0" spc="5" b="0">
                <a:latin typeface="Times New Roman"/>
                <a:cs typeface="Times New Roman"/>
              </a:rPr>
              <a:t> </a:t>
            </a:r>
            <a:r>
              <a:rPr dirty="0" spc="-10" b="0">
                <a:latin typeface="Times New Roman"/>
                <a:cs typeface="Times New Roman"/>
              </a:rPr>
              <a:t>operation</a:t>
            </a:r>
          </a:p>
          <a:p>
            <a:pPr marL="412750" indent="-400050">
              <a:lnSpc>
                <a:spcPct val="100000"/>
              </a:lnSpc>
              <a:spcBef>
                <a:spcPts val="20"/>
              </a:spcBef>
              <a:buChar char="•"/>
              <a:tabLst>
                <a:tab pos="412750" algn="l"/>
              </a:tabLst>
            </a:pPr>
            <a:r>
              <a:rPr dirty="0" b="0">
                <a:latin typeface="Times New Roman"/>
                <a:cs typeface="Times New Roman"/>
              </a:rPr>
              <a:t>Period:</a:t>
            </a:r>
            <a:r>
              <a:rPr dirty="0" spc="-4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January</a:t>
            </a:r>
            <a:r>
              <a:rPr dirty="0" spc="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2017</a:t>
            </a:r>
            <a:r>
              <a:rPr dirty="0" spc="-10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–</a:t>
            </a:r>
            <a:r>
              <a:rPr dirty="0" spc="-95" b="0">
                <a:latin typeface="Times New Roman"/>
                <a:cs typeface="Times New Roman"/>
              </a:rPr>
              <a:t> </a:t>
            </a:r>
            <a:r>
              <a:rPr dirty="0" b="0">
                <a:latin typeface="Times New Roman"/>
                <a:cs typeface="Times New Roman"/>
              </a:rPr>
              <a:t>August</a:t>
            </a:r>
            <a:r>
              <a:rPr dirty="0" spc="-40" b="0">
                <a:latin typeface="Times New Roman"/>
                <a:cs typeface="Times New Roman"/>
              </a:rPr>
              <a:t> </a:t>
            </a:r>
            <a:r>
              <a:rPr dirty="0" spc="-20" b="0">
                <a:latin typeface="Times New Roman"/>
                <a:cs typeface="Times New Roman"/>
              </a:rPr>
              <a:t>2020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9611" y="1828800"/>
            <a:ext cx="5709513" cy="3552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763375" cy="2057400"/>
          </a:xfrm>
          <a:custGeom>
            <a:avLst/>
            <a:gdLst/>
            <a:ahLst/>
            <a:cxnLst/>
            <a:rect l="l" t="t" r="r" b="b"/>
            <a:pathLst>
              <a:path w="11763375" h="2057400">
                <a:moveTo>
                  <a:pt x="11763375" y="0"/>
                </a:moveTo>
                <a:lnTo>
                  <a:pt x="0" y="0"/>
                </a:lnTo>
                <a:lnTo>
                  <a:pt x="0" y="1954022"/>
                </a:lnTo>
                <a:lnTo>
                  <a:pt x="2588" y="1953514"/>
                </a:lnTo>
                <a:lnTo>
                  <a:pt x="9648" y="1954143"/>
                </a:lnTo>
                <a:lnTo>
                  <a:pt x="16226" y="1955974"/>
                </a:lnTo>
                <a:lnTo>
                  <a:pt x="22274" y="1959211"/>
                </a:lnTo>
                <a:lnTo>
                  <a:pt x="27743" y="1964054"/>
                </a:lnTo>
                <a:lnTo>
                  <a:pt x="39531" y="1948013"/>
                </a:lnTo>
                <a:lnTo>
                  <a:pt x="91213" y="1959411"/>
                </a:lnTo>
                <a:lnTo>
                  <a:pt x="111207" y="1945513"/>
                </a:lnTo>
                <a:lnTo>
                  <a:pt x="156866" y="1925321"/>
                </a:lnTo>
                <a:lnTo>
                  <a:pt x="199024" y="1913524"/>
                </a:lnTo>
                <a:lnTo>
                  <a:pt x="239165" y="1904132"/>
                </a:lnTo>
                <a:lnTo>
                  <a:pt x="278777" y="1891157"/>
                </a:lnTo>
                <a:lnTo>
                  <a:pt x="309386" y="1889466"/>
                </a:lnTo>
                <a:lnTo>
                  <a:pt x="334675" y="1892966"/>
                </a:lnTo>
                <a:lnTo>
                  <a:pt x="360704" y="1898800"/>
                </a:lnTo>
                <a:lnTo>
                  <a:pt x="393534" y="1904111"/>
                </a:lnTo>
                <a:lnTo>
                  <a:pt x="470061" y="1886362"/>
                </a:lnTo>
                <a:lnTo>
                  <a:pt x="519157" y="1880358"/>
                </a:lnTo>
                <a:lnTo>
                  <a:pt x="572287" y="1883664"/>
                </a:lnTo>
                <a:lnTo>
                  <a:pt x="611669" y="1882009"/>
                </a:lnTo>
                <a:lnTo>
                  <a:pt x="658144" y="1876710"/>
                </a:lnTo>
                <a:lnTo>
                  <a:pt x="701530" y="1872126"/>
                </a:lnTo>
                <a:lnTo>
                  <a:pt x="731647" y="1872614"/>
                </a:lnTo>
                <a:lnTo>
                  <a:pt x="754163" y="1866884"/>
                </a:lnTo>
                <a:lnTo>
                  <a:pt x="780610" y="1868201"/>
                </a:lnTo>
                <a:lnTo>
                  <a:pt x="808997" y="1872900"/>
                </a:lnTo>
                <a:lnTo>
                  <a:pt x="837336" y="1877314"/>
                </a:lnTo>
                <a:lnTo>
                  <a:pt x="877883" y="1887333"/>
                </a:lnTo>
                <a:lnTo>
                  <a:pt x="906621" y="1887553"/>
                </a:lnTo>
                <a:lnTo>
                  <a:pt x="932787" y="1883796"/>
                </a:lnTo>
                <a:lnTo>
                  <a:pt x="965619" y="1881886"/>
                </a:lnTo>
                <a:lnTo>
                  <a:pt x="1010323" y="1873623"/>
                </a:lnTo>
                <a:lnTo>
                  <a:pt x="1040965" y="1864550"/>
                </a:lnTo>
                <a:lnTo>
                  <a:pt x="1063409" y="1858240"/>
                </a:lnTo>
                <a:lnTo>
                  <a:pt x="1083525" y="1858264"/>
                </a:lnTo>
                <a:lnTo>
                  <a:pt x="1117765" y="1850435"/>
                </a:lnTo>
                <a:lnTo>
                  <a:pt x="1151729" y="1851644"/>
                </a:lnTo>
                <a:lnTo>
                  <a:pt x="1186644" y="1856924"/>
                </a:lnTo>
                <a:lnTo>
                  <a:pt x="1223733" y="1861312"/>
                </a:lnTo>
                <a:lnTo>
                  <a:pt x="1230412" y="1867602"/>
                </a:lnTo>
                <a:lnTo>
                  <a:pt x="1243798" y="1865630"/>
                </a:lnTo>
                <a:lnTo>
                  <a:pt x="1269987" y="1855851"/>
                </a:lnTo>
                <a:lnTo>
                  <a:pt x="1279659" y="1861288"/>
                </a:lnTo>
                <a:lnTo>
                  <a:pt x="1303788" y="1863058"/>
                </a:lnTo>
                <a:lnTo>
                  <a:pt x="1330069" y="1861637"/>
                </a:lnTo>
                <a:lnTo>
                  <a:pt x="1346200" y="1857502"/>
                </a:lnTo>
                <a:lnTo>
                  <a:pt x="1375354" y="1862395"/>
                </a:lnTo>
                <a:lnTo>
                  <a:pt x="1401889" y="1873884"/>
                </a:lnTo>
                <a:lnTo>
                  <a:pt x="1434711" y="1889184"/>
                </a:lnTo>
                <a:lnTo>
                  <a:pt x="1482725" y="1905508"/>
                </a:lnTo>
                <a:lnTo>
                  <a:pt x="1519265" y="1909381"/>
                </a:lnTo>
                <a:lnTo>
                  <a:pt x="1539017" y="1919732"/>
                </a:lnTo>
                <a:lnTo>
                  <a:pt x="1552340" y="1929225"/>
                </a:lnTo>
                <a:lnTo>
                  <a:pt x="1569593" y="1930527"/>
                </a:lnTo>
                <a:lnTo>
                  <a:pt x="1621174" y="1943479"/>
                </a:lnTo>
                <a:lnTo>
                  <a:pt x="1665922" y="1960705"/>
                </a:lnTo>
                <a:lnTo>
                  <a:pt x="1710860" y="1972050"/>
                </a:lnTo>
                <a:lnTo>
                  <a:pt x="1763014" y="1967357"/>
                </a:lnTo>
                <a:lnTo>
                  <a:pt x="1814488" y="1976649"/>
                </a:lnTo>
                <a:lnTo>
                  <a:pt x="1862677" y="1987502"/>
                </a:lnTo>
                <a:lnTo>
                  <a:pt x="1909389" y="1995521"/>
                </a:lnTo>
                <a:lnTo>
                  <a:pt x="1956435" y="1996313"/>
                </a:lnTo>
                <a:lnTo>
                  <a:pt x="1972631" y="2007100"/>
                </a:lnTo>
                <a:lnTo>
                  <a:pt x="1989518" y="2012981"/>
                </a:lnTo>
                <a:lnTo>
                  <a:pt x="2007548" y="2012243"/>
                </a:lnTo>
                <a:lnTo>
                  <a:pt x="2027174" y="2003171"/>
                </a:lnTo>
                <a:lnTo>
                  <a:pt x="2067182" y="2016452"/>
                </a:lnTo>
                <a:lnTo>
                  <a:pt x="2095023" y="2029793"/>
                </a:lnTo>
                <a:lnTo>
                  <a:pt x="2119578" y="2036871"/>
                </a:lnTo>
                <a:lnTo>
                  <a:pt x="2149729" y="2031364"/>
                </a:lnTo>
                <a:lnTo>
                  <a:pt x="2172382" y="2036177"/>
                </a:lnTo>
                <a:lnTo>
                  <a:pt x="2206307" y="2045277"/>
                </a:lnTo>
                <a:lnTo>
                  <a:pt x="2221103" y="2047875"/>
                </a:lnTo>
                <a:lnTo>
                  <a:pt x="2233308" y="2047648"/>
                </a:lnTo>
                <a:lnTo>
                  <a:pt x="2242740" y="2045398"/>
                </a:lnTo>
                <a:lnTo>
                  <a:pt x="2253482" y="2043338"/>
                </a:lnTo>
                <a:lnTo>
                  <a:pt x="2269617" y="2043684"/>
                </a:lnTo>
                <a:lnTo>
                  <a:pt x="2300259" y="2046166"/>
                </a:lnTo>
                <a:lnTo>
                  <a:pt x="2331211" y="2048208"/>
                </a:lnTo>
                <a:lnTo>
                  <a:pt x="2361878" y="2051417"/>
                </a:lnTo>
                <a:lnTo>
                  <a:pt x="2391664" y="2057400"/>
                </a:lnTo>
                <a:lnTo>
                  <a:pt x="2419131" y="2040104"/>
                </a:lnTo>
                <a:lnTo>
                  <a:pt x="2437003" y="2036476"/>
                </a:lnTo>
                <a:lnTo>
                  <a:pt x="2454779" y="2038897"/>
                </a:lnTo>
                <a:lnTo>
                  <a:pt x="2481961" y="2039747"/>
                </a:lnTo>
                <a:lnTo>
                  <a:pt x="2507247" y="2033438"/>
                </a:lnTo>
                <a:lnTo>
                  <a:pt x="2538714" y="2032619"/>
                </a:lnTo>
                <a:lnTo>
                  <a:pt x="2567775" y="2038157"/>
                </a:lnTo>
                <a:lnTo>
                  <a:pt x="2585847" y="2050923"/>
                </a:lnTo>
                <a:lnTo>
                  <a:pt x="2631289" y="2046716"/>
                </a:lnTo>
                <a:lnTo>
                  <a:pt x="2731793" y="2046493"/>
                </a:lnTo>
                <a:lnTo>
                  <a:pt x="2796667" y="2042287"/>
                </a:lnTo>
                <a:lnTo>
                  <a:pt x="2837097" y="2039105"/>
                </a:lnTo>
                <a:lnTo>
                  <a:pt x="2863440" y="2041984"/>
                </a:lnTo>
                <a:lnTo>
                  <a:pt x="2886205" y="2043265"/>
                </a:lnTo>
                <a:lnTo>
                  <a:pt x="2915900" y="2035292"/>
                </a:lnTo>
                <a:lnTo>
                  <a:pt x="2963037" y="2010410"/>
                </a:lnTo>
                <a:lnTo>
                  <a:pt x="2979328" y="2002532"/>
                </a:lnTo>
                <a:lnTo>
                  <a:pt x="2997263" y="2003202"/>
                </a:lnTo>
                <a:lnTo>
                  <a:pt x="3017579" y="2007159"/>
                </a:lnTo>
                <a:lnTo>
                  <a:pt x="3041015" y="2009139"/>
                </a:lnTo>
                <a:lnTo>
                  <a:pt x="3164840" y="2003933"/>
                </a:lnTo>
                <a:lnTo>
                  <a:pt x="3211859" y="2003202"/>
                </a:lnTo>
                <a:lnTo>
                  <a:pt x="3242103" y="2000567"/>
                </a:lnTo>
                <a:lnTo>
                  <a:pt x="3263370" y="1996789"/>
                </a:lnTo>
                <a:lnTo>
                  <a:pt x="3283458" y="1992629"/>
                </a:lnTo>
                <a:lnTo>
                  <a:pt x="3310677" y="1998384"/>
                </a:lnTo>
                <a:lnTo>
                  <a:pt x="3339732" y="2004131"/>
                </a:lnTo>
                <a:lnTo>
                  <a:pt x="3353308" y="2007742"/>
                </a:lnTo>
                <a:lnTo>
                  <a:pt x="3399536" y="2013077"/>
                </a:lnTo>
                <a:lnTo>
                  <a:pt x="3453511" y="2024507"/>
                </a:lnTo>
                <a:lnTo>
                  <a:pt x="3466649" y="2008459"/>
                </a:lnTo>
                <a:lnTo>
                  <a:pt x="3480323" y="2010616"/>
                </a:lnTo>
                <a:lnTo>
                  <a:pt x="3497927" y="2018988"/>
                </a:lnTo>
                <a:lnTo>
                  <a:pt x="3522853" y="2021586"/>
                </a:lnTo>
                <a:lnTo>
                  <a:pt x="3571748" y="2015616"/>
                </a:lnTo>
                <a:lnTo>
                  <a:pt x="3593173" y="2009911"/>
                </a:lnTo>
                <a:lnTo>
                  <a:pt x="3621801" y="2005885"/>
                </a:lnTo>
                <a:lnTo>
                  <a:pt x="3652740" y="2001168"/>
                </a:lnTo>
                <a:lnTo>
                  <a:pt x="3681095" y="1993391"/>
                </a:lnTo>
                <a:lnTo>
                  <a:pt x="3708082" y="1981041"/>
                </a:lnTo>
                <a:lnTo>
                  <a:pt x="3724782" y="1972786"/>
                </a:lnTo>
                <a:lnTo>
                  <a:pt x="3741388" y="1967817"/>
                </a:lnTo>
                <a:lnTo>
                  <a:pt x="3768090" y="1965325"/>
                </a:lnTo>
                <a:lnTo>
                  <a:pt x="3786294" y="1960110"/>
                </a:lnTo>
                <a:lnTo>
                  <a:pt x="3800570" y="1960371"/>
                </a:lnTo>
                <a:lnTo>
                  <a:pt x="3811559" y="1958824"/>
                </a:lnTo>
                <a:lnTo>
                  <a:pt x="3819905" y="1948179"/>
                </a:lnTo>
                <a:lnTo>
                  <a:pt x="3870103" y="1964017"/>
                </a:lnTo>
                <a:lnTo>
                  <a:pt x="3899713" y="1970108"/>
                </a:lnTo>
                <a:lnTo>
                  <a:pt x="3918140" y="1969849"/>
                </a:lnTo>
                <a:lnTo>
                  <a:pt x="3934789" y="1966637"/>
                </a:lnTo>
                <a:lnTo>
                  <a:pt x="3959065" y="1963869"/>
                </a:lnTo>
                <a:lnTo>
                  <a:pt x="4000373" y="1964944"/>
                </a:lnTo>
                <a:lnTo>
                  <a:pt x="4054801" y="1966676"/>
                </a:lnTo>
                <a:lnTo>
                  <a:pt x="4112740" y="1965025"/>
                </a:lnTo>
                <a:lnTo>
                  <a:pt x="4169564" y="1961606"/>
                </a:lnTo>
                <a:lnTo>
                  <a:pt x="4220645" y="1958035"/>
                </a:lnTo>
                <a:lnTo>
                  <a:pt x="4261358" y="1955927"/>
                </a:lnTo>
                <a:lnTo>
                  <a:pt x="4297291" y="1955986"/>
                </a:lnTo>
                <a:lnTo>
                  <a:pt x="4335010" y="1957820"/>
                </a:lnTo>
                <a:lnTo>
                  <a:pt x="4340225" y="1956308"/>
                </a:lnTo>
                <a:lnTo>
                  <a:pt x="4389379" y="1953859"/>
                </a:lnTo>
                <a:lnTo>
                  <a:pt x="4428664" y="1951481"/>
                </a:lnTo>
                <a:lnTo>
                  <a:pt x="4458686" y="1948342"/>
                </a:lnTo>
                <a:lnTo>
                  <a:pt x="4480052" y="1943608"/>
                </a:lnTo>
                <a:lnTo>
                  <a:pt x="4526589" y="1938164"/>
                </a:lnTo>
                <a:lnTo>
                  <a:pt x="4556791" y="1935400"/>
                </a:lnTo>
                <a:lnTo>
                  <a:pt x="4578850" y="1934517"/>
                </a:lnTo>
                <a:lnTo>
                  <a:pt x="4600956" y="1934717"/>
                </a:lnTo>
                <a:lnTo>
                  <a:pt x="4627743" y="1927913"/>
                </a:lnTo>
                <a:lnTo>
                  <a:pt x="4655994" y="1924669"/>
                </a:lnTo>
                <a:lnTo>
                  <a:pt x="4686413" y="1919305"/>
                </a:lnTo>
                <a:lnTo>
                  <a:pt x="4719701" y="1906142"/>
                </a:lnTo>
                <a:lnTo>
                  <a:pt x="4735510" y="1898648"/>
                </a:lnTo>
                <a:lnTo>
                  <a:pt x="4753403" y="1899237"/>
                </a:lnTo>
                <a:lnTo>
                  <a:pt x="4770225" y="1898802"/>
                </a:lnTo>
                <a:lnTo>
                  <a:pt x="4782820" y="1888236"/>
                </a:lnTo>
                <a:lnTo>
                  <a:pt x="4790509" y="1877200"/>
                </a:lnTo>
                <a:lnTo>
                  <a:pt x="4801377" y="1872630"/>
                </a:lnTo>
                <a:lnTo>
                  <a:pt x="4813984" y="1871037"/>
                </a:lnTo>
                <a:lnTo>
                  <a:pt x="4826889" y="1868932"/>
                </a:lnTo>
                <a:lnTo>
                  <a:pt x="4855166" y="1857718"/>
                </a:lnTo>
                <a:lnTo>
                  <a:pt x="4904613" y="1852755"/>
                </a:lnTo>
                <a:lnTo>
                  <a:pt x="4956155" y="1853055"/>
                </a:lnTo>
                <a:lnTo>
                  <a:pt x="4990719" y="1857628"/>
                </a:lnTo>
                <a:lnTo>
                  <a:pt x="5039195" y="1852092"/>
                </a:lnTo>
                <a:lnTo>
                  <a:pt x="5117574" y="1847306"/>
                </a:lnTo>
                <a:lnTo>
                  <a:pt x="5155692" y="1842770"/>
                </a:lnTo>
                <a:lnTo>
                  <a:pt x="5167489" y="1843006"/>
                </a:lnTo>
                <a:lnTo>
                  <a:pt x="5178536" y="1842087"/>
                </a:lnTo>
                <a:lnTo>
                  <a:pt x="5188892" y="1840144"/>
                </a:lnTo>
                <a:lnTo>
                  <a:pt x="5212857" y="1832915"/>
                </a:lnTo>
                <a:lnTo>
                  <a:pt x="5239623" y="1835987"/>
                </a:lnTo>
                <a:lnTo>
                  <a:pt x="5253863" y="1831594"/>
                </a:lnTo>
                <a:lnTo>
                  <a:pt x="5339341" y="1826619"/>
                </a:lnTo>
                <a:lnTo>
                  <a:pt x="5359495" y="1824402"/>
                </a:lnTo>
                <a:lnTo>
                  <a:pt x="5407279" y="1818386"/>
                </a:lnTo>
                <a:lnTo>
                  <a:pt x="5449459" y="1823339"/>
                </a:lnTo>
                <a:lnTo>
                  <a:pt x="5498105" y="1823811"/>
                </a:lnTo>
                <a:lnTo>
                  <a:pt x="5551607" y="1820559"/>
                </a:lnTo>
                <a:lnTo>
                  <a:pt x="5608359" y="1814342"/>
                </a:lnTo>
                <a:lnTo>
                  <a:pt x="5666752" y="1805917"/>
                </a:lnTo>
                <a:lnTo>
                  <a:pt x="5725177" y="1796042"/>
                </a:lnTo>
                <a:lnTo>
                  <a:pt x="5782026" y="1785476"/>
                </a:lnTo>
                <a:lnTo>
                  <a:pt x="5884566" y="1765302"/>
                </a:lnTo>
                <a:lnTo>
                  <a:pt x="5927041" y="1757209"/>
                </a:lnTo>
                <a:lnTo>
                  <a:pt x="5961507" y="1751457"/>
                </a:lnTo>
                <a:lnTo>
                  <a:pt x="5986635" y="1740023"/>
                </a:lnTo>
                <a:lnTo>
                  <a:pt x="6000988" y="1736566"/>
                </a:lnTo>
                <a:lnTo>
                  <a:pt x="6031230" y="1738629"/>
                </a:lnTo>
                <a:lnTo>
                  <a:pt x="6078438" y="1749219"/>
                </a:lnTo>
                <a:lnTo>
                  <a:pt x="6119255" y="1748376"/>
                </a:lnTo>
                <a:lnTo>
                  <a:pt x="6156388" y="1741281"/>
                </a:lnTo>
                <a:lnTo>
                  <a:pt x="6192548" y="1733117"/>
                </a:lnTo>
                <a:lnTo>
                  <a:pt x="6230443" y="1729066"/>
                </a:lnTo>
                <a:lnTo>
                  <a:pt x="6272784" y="1734312"/>
                </a:lnTo>
                <a:lnTo>
                  <a:pt x="6290567" y="1731349"/>
                </a:lnTo>
                <a:lnTo>
                  <a:pt x="6308280" y="1729374"/>
                </a:lnTo>
                <a:lnTo>
                  <a:pt x="6325897" y="1728186"/>
                </a:lnTo>
                <a:lnTo>
                  <a:pt x="6343396" y="1727580"/>
                </a:lnTo>
                <a:lnTo>
                  <a:pt x="6401308" y="1727200"/>
                </a:lnTo>
                <a:lnTo>
                  <a:pt x="6416421" y="1732152"/>
                </a:lnTo>
                <a:lnTo>
                  <a:pt x="6432677" y="1739138"/>
                </a:lnTo>
                <a:lnTo>
                  <a:pt x="6479794" y="1736852"/>
                </a:lnTo>
                <a:lnTo>
                  <a:pt x="6490843" y="1727835"/>
                </a:lnTo>
                <a:lnTo>
                  <a:pt x="6505702" y="1730248"/>
                </a:lnTo>
                <a:lnTo>
                  <a:pt x="6520467" y="1727934"/>
                </a:lnTo>
                <a:lnTo>
                  <a:pt x="6574028" y="1718183"/>
                </a:lnTo>
                <a:lnTo>
                  <a:pt x="6580505" y="1718945"/>
                </a:lnTo>
                <a:lnTo>
                  <a:pt x="6586220" y="1716024"/>
                </a:lnTo>
                <a:lnTo>
                  <a:pt x="6594094" y="1718310"/>
                </a:lnTo>
                <a:lnTo>
                  <a:pt x="6597396" y="1715770"/>
                </a:lnTo>
                <a:lnTo>
                  <a:pt x="6637020" y="1721739"/>
                </a:lnTo>
                <a:lnTo>
                  <a:pt x="6659245" y="1723263"/>
                </a:lnTo>
                <a:lnTo>
                  <a:pt x="6703441" y="1732407"/>
                </a:lnTo>
                <a:lnTo>
                  <a:pt x="6711315" y="1728470"/>
                </a:lnTo>
                <a:lnTo>
                  <a:pt x="6777355" y="1733550"/>
                </a:lnTo>
                <a:lnTo>
                  <a:pt x="6778117" y="1730883"/>
                </a:lnTo>
                <a:lnTo>
                  <a:pt x="6795897" y="1720723"/>
                </a:lnTo>
                <a:lnTo>
                  <a:pt x="6801358" y="1720977"/>
                </a:lnTo>
                <a:lnTo>
                  <a:pt x="6834328" y="1717049"/>
                </a:lnTo>
                <a:lnTo>
                  <a:pt x="6848427" y="1709753"/>
                </a:lnTo>
                <a:lnTo>
                  <a:pt x="6865312" y="1706385"/>
                </a:lnTo>
                <a:lnTo>
                  <a:pt x="6906641" y="1714246"/>
                </a:lnTo>
                <a:lnTo>
                  <a:pt x="6914213" y="1707840"/>
                </a:lnTo>
                <a:lnTo>
                  <a:pt x="6922642" y="1704721"/>
                </a:lnTo>
                <a:lnTo>
                  <a:pt x="6932501" y="1704459"/>
                </a:lnTo>
                <a:lnTo>
                  <a:pt x="6944359" y="1706626"/>
                </a:lnTo>
                <a:lnTo>
                  <a:pt x="6963328" y="1702375"/>
                </a:lnTo>
                <a:lnTo>
                  <a:pt x="6976094" y="1694719"/>
                </a:lnTo>
                <a:lnTo>
                  <a:pt x="6988740" y="1689873"/>
                </a:lnTo>
                <a:lnTo>
                  <a:pt x="7007352" y="1694052"/>
                </a:lnTo>
                <a:lnTo>
                  <a:pt x="7014721" y="1686685"/>
                </a:lnTo>
                <a:lnTo>
                  <a:pt x="7034593" y="1682924"/>
                </a:lnTo>
                <a:lnTo>
                  <a:pt x="7052750" y="1679140"/>
                </a:lnTo>
                <a:lnTo>
                  <a:pt x="7054977" y="1671701"/>
                </a:lnTo>
                <a:lnTo>
                  <a:pt x="7069407" y="1666742"/>
                </a:lnTo>
                <a:lnTo>
                  <a:pt x="7081361" y="1668414"/>
                </a:lnTo>
                <a:lnTo>
                  <a:pt x="7093267" y="1670397"/>
                </a:lnTo>
                <a:lnTo>
                  <a:pt x="7107555" y="1666366"/>
                </a:lnTo>
                <a:lnTo>
                  <a:pt x="7115645" y="1667271"/>
                </a:lnTo>
                <a:lnTo>
                  <a:pt x="7112365" y="1672844"/>
                </a:lnTo>
                <a:lnTo>
                  <a:pt x="7109537" y="1679082"/>
                </a:lnTo>
                <a:lnTo>
                  <a:pt x="7118984" y="1681988"/>
                </a:lnTo>
                <a:lnTo>
                  <a:pt x="7133677" y="1682829"/>
                </a:lnTo>
                <a:lnTo>
                  <a:pt x="7151631" y="1688703"/>
                </a:lnTo>
                <a:lnTo>
                  <a:pt x="7159752" y="1686687"/>
                </a:lnTo>
                <a:lnTo>
                  <a:pt x="7163816" y="1684274"/>
                </a:lnTo>
                <a:lnTo>
                  <a:pt x="7168769" y="1679448"/>
                </a:lnTo>
                <a:lnTo>
                  <a:pt x="7175373" y="1670812"/>
                </a:lnTo>
                <a:lnTo>
                  <a:pt x="7196034" y="1671949"/>
                </a:lnTo>
                <a:lnTo>
                  <a:pt x="7213219" y="1667525"/>
                </a:lnTo>
                <a:lnTo>
                  <a:pt x="7232880" y="1660078"/>
                </a:lnTo>
                <a:lnTo>
                  <a:pt x="7260971" y="1652142"/>
                </a:lnTo>
                <a:lnTo>
                  <a:pt x="7274258" y="1655417"/>
                </a:lnTo>
                <a:lnTo>
                  <a:pt x="7286688" y="1654905"/>
                </a:lnTo>
                <a:lnTo>
                  <a:pt x="7298547" y="1651392"/>
                </a:lnTo>
                <a:lnTo>
                  <a:pt x="7310120" y="1645665"/>
                </a:lnTo>
                <a:lnTo>
                  <a:pt x="7326477" y="1644872"/>
                </a:lnTo>
                <a:lnTo>
                  <a:pt x="7342679" y="1643030"/>
                </a:lnTo>
                <a:lnTo>
                  <a:pt x="7358858" y="1640379"/>
                </a:lnTo>
                <a:lnTo>
                  <a:pt x="7403592" y="1631441"/>
                </a:lnTo>
                <a:lnTo>
                  <a:pt x="7423531" y="1634998"/>
                </a:lnTo>
                <a:lnTo>
                  <a:pt x="7431785" y="1634236"/>
                </a:lnTo>
                <a:lnTo>
                  <a:pt x="7446009" y="1634489"/>
                </a:lnTo>
                <a:lnTo>
                  <a:pt x="7463917" y="1632203"/>
                </a:lnTo>
                <a:lnTo>
                  <a:pt x="7474331" y="1623060"/>
                </a:lnTo>
                <a:lnTo>
                  <a:pt x="7489571" y="1624584"/>
                </a:lnTo>
                <a:lnTo>
                  <a:pt x="7506716" y="1616964"/>
                </a:lnTo>
                <a:lnTo>
                  <a:pt x="7509509" y="1620901"/>
                </a:lnTo>
                <a:lnTo>
                  <a:pt x="7523226" y="1626235"/>
                </a:lnTo>
                <a:lnTo>
                  <a:pt x="7585836" y="1597787"/>
                </a:lnTo>
                <a:lnTo>
                  <a:pt x="7597624" y="1593615"/>
                </a:lnTo>
                <a:lnTo>
                  <a:pt x="7622413" y="1586864"/>
                </a:lnTo>
                <a:lnTo>
                  <a:pt x="7624445" y="1584578"/>
                </a:lnTo>
                <a:lnTo>
                  <a:pt x="7662799" y="1576577"/>
                </a:lnTo>
                <a:lnTo>
                  <a:pt x="7673975" y="1567307"/>
                </a:lnTo>
                <a:lnTo>
                  <a:pt x="7694467" y="1561123"/>
                </a:lnTo>
                <a:lnTo>
                  <a:pt x="7715234" y="1557274"/>
                </a:lnTo>
                <a:lnTo>
                  <a:pt x="7734071" y="1551519"/>
                </a:lnTo>
                <a:lnTo>
                  <a:pt x="7748778" y="1539621"/>
                </a:lnTo>
                <a:lnTo>
                  <a:pt x="7756017" y="1534795"/>
                </a:lnTo>
                <a:lnTo>
                  <a:pt x="7763002" y="1532509"/>
                </a:lnTo>
                <a:lnTo>
                  <a:pt x="7769733" y="1531492"/>
                </a:lnTo>
                <a:lnTo>
                  <a:pt x="7788402" y="1532382"/>
                </a:lnTo>
                <a:lnTo>
                  <a:pt x="7793355" y="1539239"/>
                </a:lnTo>
                <a:lnTo>
                  <a:pt x="7805039" y="1536064"/>
                </a:lnTo>
                <a:lnTo>
                  <a:pt x="7814436" y="1538351"/>
                </a:lnTo>
                <a:lnTo>
                  <a:pt x="7820533" y="1539494"/>
                </a:lnTo>
                <a:lnTo>
                  <a:pt x="7826629" y="1539621"/>
                </a:lnTo>
                <a:lnTo>
                  <a:pt x="7831923" y="1522763"/>
                </a:lnTo>
                <a:lnTo>
                  <a:pt x="7848123" y="1519443"/>
                </a:lnTo>
                <a:lnTo>
                  <a:pt x="7862562" y="1517671"/>
                </a:lnTo>
                <a:lnTo>
                  <a:pt x="7862570" y="1505458"/>
                </a:lnTo>
                <a:lnTo>
                  <a:pt x="7878431" y="1498298"/>
                </a:lnTo>
                <a:lnTo>
                  <a:pt x="7884302" y="1490186"/>
                </a:lnTo>
                <a:lnTo>
                  <a:pt x="7891055" y="1487455"/>
                </a:lnTo>
                <a:lnTo>
                  <a:pt x="7909559" y="1496440"/>
                </a:lnTo>
                <a:lnTo>
                  <a:pt x="7954799" y="1472273"/>
                </a:lnTo>
                <a:lnTo>
                  <a:pt x="8006492" y="1450927"/>
                </a:lnTo>
                <a:lnTo>
                  <a:pt x="8056328" y="1426843"/>
                </a:lnTo>
                <a:lnTo>
                  <a:pt x="8095996" y="1394460"/>
                </a:lnTo>
                <a:lnTo>
                  <a:pt x="8123293" y="1382621"/>
                </a:lnTo>
                <a:lnTo>
                  <a:pt x="8141208" y="1369949"/>
                </a:lnTo>
                <a:lnTo>
                  <a:pt x="8156932" y="1356991"/>
                </a:lnTo>
                <a:lnTo>
                  <a:pt x="8177657" y="1344295"/>
                </a:lnTo>
                <a:lnTo>
                  <a:pt x="8191611" y="1341189"/>
                </a:lnTo>
                <a:lnTo>
                  <a:pt x="8221567" y="1339643"/>
                </a:lnTo>
                <a:lnTo>
                  <a:pt x="8257095" y="1332454"/>
                </a:lnTo>
                <a:lnTo>
                  <a:pt x="8287766" y="1312417"/>
                </a:lnTo>
                <a:lnTo>
                  <a:pt x="8386953" y="1265174"/>
                </a:lnTo>
                <a:lnTo>
                  <a:pt x="8454263" y="1239774"/>
                </a:lnTo>
                <a:lnTo>
                  <a:pt x="8468741" y="1219835"/>
                </a:lnTo>
                <a:lnTo>
                  <a:pt x="8487283" y="1203705"/>
                </a:lnTo>
                <a:lnTo>
                  <a:pt x="8491601" y="1203705"/>
                </a:lnTo>
                <a:lnTo>
                  <a:pt x="8501126" y="1207515"/>
                </a:lnTo>
                <a:lnTo>
                  <a:pt x="8508313" y="1205771"/>
                </a:lnTo>
                <a:lnTo>
                  <a:pt x="8533638" y="1197610"/>
                </a:lnTo>
                <a:lnTo>
                  <a:pt x="8534400" y="1199261"/>
                </a:lnTo>
                <a:lnTo>
                  <a:pt x="8535416" y="1199134"/>
                </a:lnTo>
                <a:lnTo>
                  <a:pt x="8546719" y="1188974"/>
                </a:lnTo>
                <a:lnTo>
                  <a:pt x="8551799" y="1185672"/>
                </a:lnTo>
                <a:lnTo>
                  <a:pt x="8558530" y="1200023"/>
                </a:lnTo>
                <a:lnTo>
                  <a:pt x="8568545" y="1200628"/>
                </a:lnTo>
                <a:lnTo>
                  <a:pt x="8580262" y="1197340"/>
                </a:lnTo>
                <a:lnTo>
                  <a:pt x="8591623" y="1195075"/>
                </a:lnTo>
                <a:lnTo>
                  <a:pt x="8600567" y="1198752"/>
                </a:lnTo>
                <a:lnTo>
                  <a:pt x="8607996" y="1193546"/>
                </a:lnTo>
                <a:lnTo>
                  <a:pt x="8623427" y="1183465"/>
                </a:lnTo>
                <a:lnTo>
                  <a:pt x="8631428" y="1178687"/>
                </a:lnTo>
                <a:lnTo>
                  <a:pt x="8637905" y="1175385"/>
                </a:lnTo>
                <a:lnTo>
                  <a:pt x="8638159" y="1175639"/>
                </a:lnTo>
                <a:lnTo>
                  <a:pt x="8639810" y="1175639"/>
                </a:lnTo>
                <a:lnTo>
                  <a:pt x="8641969" y="1174750"/>
                </a:lnTo>
                <a:lnTo>
                  <a:pt x="8645144" y="1172845"/>
                </a:lnTo>
                <a:lnTo>
                  <a:pt x="8649716" y="1169415"/>
                </a:lnTo>
                <a:lnTo>
                  <a:pt x="8667369" y="1163065"/>
                </a:lnTo>
                <a:lnTo>
                  <a:pt x="8670417" y="1166114"/>
                </a:lnTo>
                <a:lnTo>
                  <a:pt x="8671433" y="1165098"/>
                </a:lnTo>
                <a:lnTo>
                  <a:pt x="8675110" y="1157243"/>
                </a:lnTo>
                <a:lnTo>
                  <a:pt x="8678941" y="1152461"/>
                </a:lnTo>
                <a:lnTo>
                  <a:pt x="8685845" y="1153775"/>
                </a:lnTo>
                <a:lnTo>
                  <a:pt x="8698738" y="1164209"/>
                </a:lnTo>
                <a:lnTo>
                  <a:pt x="8710076" y="1154160"/>
                </a:lnTo>
                <a:lnTo>
                  <a:pt x="8721820" y="1152016"/>
                </a:lnTo>
                <a:lnTo>
                  <a:pt x="8736278" y="1152350"/>
                </a:lnTo>
                <a:lnTo>
                  <a:pt x="8755761" y="1149730"/>
                </a:lnTo>
                <a:lnTo>
                  <a:pt x="8761940" y="1140344"/>
                </a:lnTo>
                <a:lnTo>
                  <a:pt x="8769286" y="1135697"/>
                </a:lnTo>
                <a:lnTo>
                  <a:pt x="8777585" y="1134764"/>
                </a:lnTo>
                <a:lnTo>
                  <a:pt x="8786622" y="1136523"/>
                </a:lnTo>
                <a:lnTo>
                  <a:pt x="8806352" y="1125753"/>
                </a:lnTo>
                <a:lnTo>
                  <a:pt x="8827500" y="1118854"/>
                </a:lnTo>
                <a:lnTo>
                  <a:pt x="8849862" y="1113073"/>
                </a:lnTo>
                <a:lnTo>
                  <a:pt x="8873236" y="1105662"/>
                </a:lnTo>
                <a:lnTo>
                  <a:pt x="8893905" y="1090830"/>
                </a:lnTo>
                <a:lnTo>
                  <a:pt x="8915050" y="1086072"/>
                </a:lnTo>
                <a:lnTo>
                  <a:pt x="8937386" y="1084409"/>
                </a:lnTo>
                <a:lnTo>
                  <a:pt x="8961628" y="1078864"/>
                </a:lnTo>
                <a:lnTo>
                  <a:pt x="9011031" y="1073403"/>
                </a:lnTo>
                <a:lnTo>
                  <a:pt x="9016428" y="1071562"/>
                </a:lnTo>
                <a:lnTo>
                  <a:pt x="9025826" y="1070197"/>
                </a:lnTo>
                <a:lnTo>
                  <a:pt x="9039860" y="1068704"/>
                </a:lnTo>
                <a:lnTo>
                  <a:pt x="9040241" y="1068959"/>
                </a:lnTo>
                <a:lnTo>
                  <a:pt x="9045829" y="1064005"/>
                </a:lnTo>
                <a:lnTo>
                  <a:pt x="9052643" y="1057346"/>
                </a:lnTo>
                <a:lnTo>
                  <a:pt x="9059195" y="1050543"/>
                </a:lnTo>
                <a:lnTo>
                  <a:pt x="9071610" y="1036701"/>
                </a:lnTo>
                <a:lnTo>
                  <a:pt x="9082694" y="1031775"/>
                </a:lnTo>
                <a:lnTo>
                  <a:pt x="9092374" y="1026636"/>
                </a:lnTo>
                <a:lnTo>
                  <a:pt x="9101578" y="1022306"/>
                </a:lnTo>
                <a:lnTo>
                  <a:pt x="9111234" y="1019810"/>
                </a:lnTo>
                <a:lnTo>
                  <a:pt x="9118395" y="1015777"/>
                </a:lnTo>
                <a:lnTo>
                  <a:pt x="9130426" y="1010221"/>
                </a:lnTo>
                <a:lnTo>
                  <a:pt x="9142291" y="1005522"/>
                </a:lnTo>
                <a:lnTo>
                  <a:pt x="9148953" y="1004062"/>
                </a:lnTo>
                <a:lnTo>
                  <a:pt x="9154668" y="1027429"/>
                </a:lnTo>
                <a:lnTo>
                  <a:pt x="9170162" y="986282"/>
                </a:lnTo>
                <a:lnTo>
                  <a:pt x="9198102" y="979677"/>
                </a:lnTo>
                <a:lnTo>
                  <a:pt x="9206484" y="970914"/>
                </a:lnTo>
                <a:lnTo>
                  <a:pt x="9206992" y="965200"/>
                </a:lnTo>
                <a:lnTo>
                  <a:pt x="9293098" y="937767"/>
                </a:lnTo>
                <a:lnTo>
                  <a:pt x="9345676" y="918590"/>
                </a:lnTo>
                <a:lnTo>
                  <a:pt x="9359217" y="906541"/>
                </a:lnTo>
                <a:lnTo>
                  <a:pt x="9378283" y="897826"/>
                </a:lnTo>
                <a:lnTo>
                  <a:pt x="9403111" y="890444"/>
                </a:lnTo>
                <a:lnTo>
                  <a:pt x="9433941" y="882396"/>
                </a:lnTo>
                <a:lnTo>
                  <a:pt x="9478361" y="866796"/>
                </a:lnTo>
                <a:lnTo>
                  <a:pt x="9523555" y="857138"/>
                </a:lnTo>
                <a:lnTo>
                  <a:pt x="9569725" y="851124"/>
                </a:lnTo>
                <a:lnTo>
                  <a:pt x="9617075" y="846454"/>
                </a:lnTo>
                <a:lnTo>
                  <a:pt x="9657137" y="825271"/>
                </a:lnTo>
                <a:lnTo>
                  <a:pt x="9695201" y="808659"/>
                </a:lnTo>
                <a:lnTo>
                  <a:pt x="9734264" y="789762"/>
                </a:lnTo>
                <a:lnTo>
                  <a:pt x="9777326" y="761720"/>
                </a:lnTo>
                <a:lnTo>
                  <a:pt x="9827387" y="717676"/>
                </a:lnTo>
                <a:lnTo>
                  <a:pt x="9917176" y="669798"/>
                </a:lnTo>
                <a:lnTo>
                  <a:pt x="9930899" y="658546"/>
                </a:lnTo>
                <a:lnTo>
                  <a:pt x="9952958" y="641699"/>
                </a:lnTo>
                <a:lnTo>
                  <a:pt x="9976397" y="627185"/>
                </a:lnTo>
                <a:lnTo>
                  <a:pt x="9994265" y="622935"/>
                </a:lnTo>
                <a:lnTo>
                  <a:pt x="10014458" y="608202"/>
                </a:lnTo>
                <a:lnTo>
                  <a:pt x="10029190" y="592709"/>
                </a:lnTo>
                <a:lnTo>
                  <a:pt x="10034905" y="588137"/>
                </a:lnTo>
                <a:lnTo>
                  <a:pt x="10061702" y="583564"/>
                </a:lnTo>
                <a:lnTo>
                  <a:pt x="10066909" y="582929"/>
                </a:lnTo>
                <a:lnTo>
                  <a:pt x="10069957" y="581787"/>
                </a:lnTo>
                <a:lnTo>
                  <a:pt x="10071989" y="580136"/>
                </a:lnTo>
                <a:lnTo>
                  <a:pt x="10081895" y="577596"/>
                </a:lnTo>
                <a:lnTo>
                  <a:pt x="10096521" y="567818"/>
                </a:lnTo>
                <a:lnTo>
                  <a:pt x="10145903" y="533653"/>
                </a:lnTo>
                <a:lnTo>
                  <a:pt x="10166094" y="530613"/>
                </a:lnTo>
                <a:lnTo>
                  <a:pt x="10188082" y="524287"/>
                </a:lnTo>
                <a:lnTo>
                  <a:pt x="10202570" y="513151"/>
                </a:lnTo>
                <a:lnTo>
                  <a:pt x="10200259" y="495680"/>
                </a:lnTo>
                <a:lnTo>
                  <a:pt x="10206990" y="494029"/>
                </a:lnTo>
                <a:lnTo>
                  <a:pt x="10210038" y="490220"/>
                </a:lnTo>
                <a:lnTo>
                  <a:pt x="10211435" y="485266"/>
                </a:lnTo>
                <a:lnTo>
                  <a:pt x="10211562" y="483108"/>
                </a:lnTo>
                <a:lnTo>
                  <a:pt x="10259822" y="478154"/>
                </a:lnTo>
                <a:lnTo>
                  <a:pt x="10264902" y="474090"/>
                </a:lnTo>
                <a:lnTo>
                  <a:pt x="10320782" y="478154"/>
                </a:lnTo>
                <a:lnTo>
                  <a:pt x="10326751" y="480187"/>
                </a:lnTo>
                <a:lnTo>
                  <a:pt x="10333863" y="479678"/>
                </a:lnTo>
                <a:lnTo>
                  <a:pt x="10343769" y="473075"/>
                </a:lnTo>
                <a:lnTo>
                  <a:pt x="10345674" y="470662"/>
                </a:lnTo>
                <a:lnTo>
                  <a:pt x="10367391" y="473455"/>
                </a:lnTo>
                <a:lnTo>
                  <a:pt x="10406249" y="462845"/>
                </a:lnTo>
                <a:lnTo>
                  <a:pt x="10518731" y="430147"/>
                </a:lnTo>
                <a:lnTo>
                  <a:pt x="10574020" y="415036"/>
                </a:lnTo>
                <a:lnTo>
                  <a:pt x="10630792" y="403062"/>
                </a:lnTo>
                <a:lnTo>
                  <a:pt x="10682636" y="391255"/>
                </a:lnTo>
                <a:lnTo>
                  <a:pt x="10770489" y="369950"/>
                </a:lnTo>
                <a:lnTo>
                  <a:pt x="10801492" y="351085"/>
                </a:lnTo>
                <a:lnTo>
                  <a:pt x="10843260" y="346186"/>
                </a:lnTo>
                <a:lnTo>
                  <a:pt x="10876359" y="345644"/>
                </a:lnTo>
                <a:lnTo>
                  <a:pt x="10881360" y="339851"/>
                </a:lnTo>
                <a:lnTo>
                  <a:pt x="10924880" y="342511"/>
                </a:lnTo>
                <a:lnTo>
                  <a:pt x="10968538" y="333953"/>
                </a:lnTo>
                <a:lnTo>
                  <a:pt x="11012281" y="318706"/>
                </a:lnTo>
                <a:lnTo>
                  <a:pt x="11056055" y="301300"/>
                </a:lnTo>
                <a:lnTo>
                  <a:pt x="11099808" y="286265"/>
                </a:lnTo>
                <a:lnTo>
                  <a:pt x="11143488" y="278129"/>
                </a:lnTo>
                <a:lnTo>
                  <a:pt x="11157807" y="250900"/>
                </a:lnTo>
                <a:lnTo>
                  <a:pt x="11167554" y="247840"/>
                </a:lnTo>
                <a:lnTo>
                  <a:pt x="11180349" y="251733"/>
                </a:lnTo>
                <a:lnTo>
                  <a:pt x="11203813" y="245364"/>
                </a:lnTo>
                <a:lnTo>
                  <a:pt x="11225329" y="240250"/>
                </a:lnTo>
                <a:lnTo>
                  <a:pt x="11250120" y="236458"/>
                </a:lnTo>
                <a:lnTo>
                  <a:pt x="11273125" y="233594"/>
                </a:lnTo>
                <a:lnTo>
                  <a:pt x="11289284" y="231267"/>
                </a:lnTo>
                <a:lnTo>
                  <a:pt x="11292332" y="227456"/>
                </a:lnTo>
                <a:lnTo>
                  <a:pt x="11308080" y="220345"/>
                </a:lnTo>
                <a:lnTo>
                  <a:pt x="11308461" y="208025"/>
                </a:lnTo>
                <a:lnTo>
                  <a:pt x="11342862" y="183419"/>
                </a:lnTo>
                <a:lnTo>
                  <a:pt x="11393322" y="177282"/>
                </a:lnTo>
                <a:lnTo>
                  <a:pt x="11428142" y="159527"/>
                </a:lnTo>
                <a:lnTo>
                  <a:pt x="11465129" y="142845"/>
                </a:lnTo>
                <a:lnTo>
                  <a:pt x="11505819" y="143509"/>
                </a:lnTo>
                <a:lnTo>
                  <a:pt x="11526654" y="142942"/>
                </a:lnTo>
                <a:lnTo>
                  <a:pt x="11553253" y="137160"/>
                </a:lnTo>
                <a:lnTo>
                  <a:pt x="11577470" y="127472"/>
                </a:lnTo>
                <a:lnTo>
                  <a:pt x="11591163" y="115189"/>
                </a:lnTo>
                <a:lnTo>
                  <a:pt x="11600092" y="111785"/>
                </a:lnTo>
                <a:lnTo>
                  <a:pt x="11608879" y="108823"/>
                </a:lnTo>
                <a:lnTo>
                  <a:pt x="11615951" y="103741"/>
                </a:lnTo>
                <a:lnTo>
                  <a:pt x="11619738" y="93979"/>
                </a:lnTo>
                <a:lnTo>
                  <a:pt x="11629991" y="84411"/>
                </a:lnTo>
                <a:lnTo>
                  <a:pt x="11646900" y="82676"/>
                </a:lnTo>
                <a:lnTo>
                  <a:pt x="11660832" y="80942"/>
                </a:lnTo>
                <a:lnTo>
                  <a:pt x="11662156" y="71374"/>
                </a:lnTo>
                <a:lnTo>
                  <a:pt x="11679531" y="73320"/>
                </a:lnTo>
                <a:lnTo>
                  <a:pt x="11693906" y="66278"/>
                </a:lnTo>
                <a:lnTo>
                  <a:pt x="11706375" y="53782"/>
                </a:lnTo>
                <a:lnTo>
                  <a:pt x="11718036" y="39370"/>
                </a:lnTo>
                <a:lnTo>
                  <a:pt x="11724767" y="32639"/>
                </a:lnTo>
                <a:lnTo>
                  <a:pt x="11763375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54025" y="248285"/>
            <a:ext cx="7541895" cy="518159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200" spc="-130" b="0">
                <a:latin typeface="Trebuchet MS"/>
                <a:cs typeface="Trebuchet MS"/>
              </a:rPr>
              <a:t>Data</a:t>
            </a:r>
            <a:r>
              <a:rPr dirty="0" sz="3200" spc="-330" b="0">
                <a:latin typeface="Trebuchet MS"/>
                <a:cs typeface="Trebuchet MS"/>
              </a:rPr>
              <a:t> </a:t>
            </a:r>
            <a:r>
              <a:rPr dirty="0" sz="3200" spc="-190" b="0">
                <a:latin typeface="Trebuchet MS"/>
                <a:cs typeface="Trebuchet MS"/>
              </a:rPr>
              <a:t>Preparation</a:t>
            </a:r>
            <a:r>
              <a:rPr dirty="0" sz="3200" spc="-305" b="0">
                <a:latin typeface="Trebuchet MS"/>
                <a:cs typeface="Trebuchet MS"/>
              </a:rPr>
              <a:t> </a:t>
            </a:r>
            <a:r>
              <a:rPr dirty="0" sz="3200" spc="-275" b="0">
                <a:latin typeface="Trebuchet MS"/>
                <a:cs typeface="Trebuchet MS"/>
              </a:rPr>
              <a:t>&amp;</a:t>
            </a:r>
            <a:r>
              <a:rPr dirty="0" sz="3200" spc="-390" b="0">
                <a:latin typeface="Trebuchet MS"/>
                <a:cs typeface="Trebuchet MS"/>
              </a:rPr>
              <a:t> </a:t>
            </a:r>
            <a:r>
              <a:rPr dirty="0" sz="3200" spc="-200" b="0">
                <a:latin typeface="Trebuchet MS"/>
                <a:cs typeface="Trebuchet MS"/>
              </a:rPr>
              <a:t>Feature</a:t>
            </a:r>
            <a:r>
              <a:rPr dirty="0" sz="3200" spc="-265" b="0">
                <a:latin typeface="Trebuchet MS"/>
                <a:cs typeface="Trebuchet MS"/>
              </a:rPr>
              <a:t> </a:t>
            </a:r>
            <a:r>
              <a:rPr dirty="0" sz="3200" spc="-180" b="0">
                <a:latin typeface="Trebuchet MS"/>
                <a:cs typeface="Trebuchet MS"/>
              </a:rPr>
              <a:t>Engineering</a:t>
            </a:r>
            <a:r>
              <a:rPr dirty="0" sz="3200" spc="-315" b="0">
                <a:latin typeface="Trebuchet MS"/>
                <a:cs typeface="Trebuchet MS"/>
              </a:rPr>
              <a:t> </a:t>
            </a:r>
            <a:r>
              <a:rPr dirty="0" sz="3200" spc="-275" b="0">
                <a:latin typeface="Trebuchet MS"/>
                <a:cs typeface="Trebuchet MS"/>
              </a:rPr>
              <a:t>&amp;</a:t>
            </a:r>
            <a:r>
              <a:rPr dirty="0" sz="3200" spc="-305" b="0">
                <a:latin typeface="Trebuchet MS"/>
                <a:cs typeface="Trebuchet MS"/>
              </a:rPr>
              <a:t> </a:t>
            </a:r>
            <a:r>
              <a:rPr dirty="0" sz="3200" spc="-60" b="0">
                <a:latin typeface="Trebuchet MS"/>
                <a:cs typeface="Trebuchet MS"/>
              </a:rPr>
              <a:t>flow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025" y="792422"/>
            <a:ext cx="4574540" cy="306768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50" b="1">
                <a:latin typeface="Times New Roman"/>
                <a:cs typeface="Times New Roman"/>
              </a:rPr>
              <a:t>Data</a:t>
            </a:r>
            <a:r>
              <a:rPr dirty="0" sz="1550" spc="70" b="1">
                <a:latin typeface="Times New Roman"/>
                <a:cs typeface="Times New Roman"/>
              </a:rPr>
              <a:t> </a:t>
            </a:r>
            <a:r>
              <a:rPr dirty="0" sz="1550" spc="-10" b="1">
                <a:latin typeface="Times New Roman"/>
                <a:cs typeface="Times New Roman"/>
              </a:rPr>
              <a:t>Preparation</a:t>
            </a:r>
            <a:endParaRPr sz="1550">
              <a:latin typeface="Times New Roman"/>
              <a:cs typeface="Times New Roman"/>
            </a:endParaRPr>
          </a:p>
          <a:p>
            <a:pPr marL="241300" marR="66040" indent="-229235">
              <a:lnSpc>
                <a:spcPts val="1580"/>
              </a:lnSpc>
              <a:spcBef>
                <a:spcPts val="980"/>
              </a:spcBef>
              <a:buChar char="•"/>
              <a:tabLst>
                <a:tab pos="241300" algn="l"/>
              </a:tabLst>
            </a:pPr>
            <a:r>
              <a:rPr dirty="0" sz="1550">
                <a:latin typeface="Times New Roman"/>
                <a:cs typeface="Times New Roman"/>
              </a:rPr>
              <a:t>Converted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recorded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timestamps</a:t>
            </a:r>
            <a:r>
              <a:rPr dirty="0" sz="1550" spc="15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into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consistent </a:t>
            </a:r>
            <a:r>
              <a:rPr dirty="0" sz="1550">
                <a:latin typeface="Times New Roman"/>
                <a:cs typeface="Times New Roman"/>
              </a:rPr>
              <a:t>datetime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format.</a:t>
            </a:r>
            <a:endParaRPr sz="155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1500"/>
              </a:lnSpc>
              <a:spcBef>
                <a:spcPts val="1035"/>
              </a:spcBef>
              <a:buChar char="•"/>
              <a:tabLst>
                <a:tab pos="241300" algn="l"/>
              </a:tabLst>
            </a:pPr>
            <a:r>
              <a:rPr dirty="0" sz="1550">
                <a:latin typeface="Times New Roman"/>
                <a:cs typeface="Times New Roman"/>
              </a:rPr>
              <a:t>Sorted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data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chronologically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checked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40">
                <a:latin typeface="Times New Roman"/>
                <a:cs typeface="Times New Roman"/>
              </a:rPr>
              <a:t> </a:t>
            </a:r>
            <a:r>
              <a:rPr dirty="0" sz="1550" spc="-20">
                <a:latin typeface="Times New Roman"/>
                <a:cs typeface="Times New Roman"/>
              </a:rPr>
              <a:t>time </a:t>
            </a:r>
            <a:r>
              <a:rPr dirty="0" sz="1550" spc="-10">
                <a:latin typeface="Times New Roman"/>
                <a:cs typeface="Times New Roman"/>
              </a:rPr>
              <a:t>intervals.</a:t>
            </a: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05"/>
              </a:spcBef>
              <a:buChar char="•"/>
              <a:tabLst>
                <a:tab pos="241300" algn="l"/>
              </a:tabLst>
            </a:pPr>
            <a:r>
              <a:rPr dirty="0" sz="1550">
                <a:latin typeface="Times New Roman"/>
                <a:cs typeface="Times New Roman"/>
              </a:rPr>
              <a:t>Converted</a:t>
            </a:r>
            <a:r>
              <a:rPr dirty="0" sz="1550" spc="1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sensor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readings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into</a:t>
            </a:r>
            <a:r>
              <a:rPr dirty="0" sz="1550" spc="17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numeric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values.</a:t>
            </a:r>
            <a:endParaRPr sz="1550">
              <a:latin typeface="Times New Roman"/>
              <a:cs typeface="Times New Roman"/>
            </a:endParaRPr>
          </a:p>
          <a:p>
            <a:pPr marL="241300" marR="187960" indent="-229235">
              <a:lnSpc>
                <a:spcPts val="1500"/>
              </a:lnSpc>
              <a:spcBef>
                <a:spcPts val="1045"/>
              </a:spcBef>
              <a:buChar char="•"/>
              <a:tabLst>
                <a:tab pos="241300" algn="l"/>
              </a:tabLst>
            </a:pPr>
            <a:r>
              <a:rPr dirty="0" sz="1550">
                <a:latin typeface="Times New Roman"/>
                <a:cs typeface="Times New Roman"/>
              </a:rPr>
              <a:t>Kept</a:t>
            </a:r>
            <a:r>
              <a:rPr dirty="0" sz="1550" spc="9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system/status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values</a:t>
            </a:r>
            <a:r>
              <a:rPr dirty="0" sz="1550" spc="16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separate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from</a:t>
            </a:r>
            <a:r>
              <a:rPr dirty="0" sz="1550" spc="14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sensor measurements.</a:t>
            </a:r>
            <a:endParaRPr sz="1550">
              <a:latin typeface="Times New Roman"/>
              <a:cs typeface="Times New Roman"/>
            </a:endParaRPr>
          </a:p>
          <a:p>
            <a:pPr marL="241300" marR="243204" indent="-229235">
              <a:lnSpc>
                <a:spcPts val="1500"/>
              </a:lnSpc>
              <a:spcBef>
                <a:spcPts val="1055"/>
              </a:spcBef>
              <a:buChar char="•"/>
              <a:tabLst>
                <a:tab pos="241300" algn="l"/>
              </a:tabLst>
            </a:pPr>
            <a:r>
              <a:rPr dirty="0" sz="1550">
                <a:latin typeface="Times New Roman"/>
                <a:cs typeface="Times New Roman"/>
              </a:rPr>
              <a:t>Checked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missing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values</a:t>
            </a:r>
            <a:r>
              <a:rPr dirty="0" sz="1550" spc="14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and</a:t>
            </a:r>
            <a:r>
              <a:rPr dirty="0" sz="1550" spc="114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duplicate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timestamps </a:t>
            </a:r>
            <a:r>
              <a:rPr dirty="0" sz="1550">
                <a:latin typeface="Times New Roman"/>
                <a:cs typeface="Times New Roman"/>
              </a:rPr>
              <a:t>before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modelling.</a:t>
            </a:r>
            <a:endParaRPr sz="15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50" b="1">
                <a:latin typeface="Times New Roman"/>
                <a:cs typeface="Times New Roman"/>
              </a:rPr>
              <a:t>Feature</a:t>
            </a:r>
            <a:r>
              <a:rPr dirty="0" sz="1550" spc="100" b="1">
                <a:latin typeface="Times New Roman"/>
                <a:cs typeface="Times New Roman"/>
              </a:rPr>
              <a:t> </a:t>
            </a:r>
            <a:r>
              <a:rPr dirty="0" sz="1550" spc="-10" b="1">
                <a:latin typeface="Times New Roman"/>
                <a:cs typeface="Times New Roman"/>
              </a:rPr>
              <a:t>Engineering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04790" y="931290"/>
            <a:ext cx="1452880" cy="2654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b="1">
                <a:latin typeface="Times New Roman"/>
                <a:cs typeface="Times New Roman"/>
              </a:rPr>
              <a:t>Model</a:t>
            </a:r>
            <a:r>
              <a:rPr dirty="0" sz="1550" spc="155" b="1">
                <a:latin typeface="Times New Roman"/>
                <a:cs typeface="Times New Roman"/>
              </a:rPr>
              <a:t> </a:t>
            </a:r>
            <a:r>
              <a:rPr dirty="0" sz="1550" spc="-10" b="1">
                <a:latin typeface="Times New Roman"/>
                <a:cs typeface="Times New Roman"/>
              </a:rPr>
              <a:t>Features: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04790" y="1169670"/>
            <a:ext cx="3409950" cy="12484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just" marL="295275" indent="-28257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295275" algn="l"/>
              </a:tabLst>
            </a:pPr>
            <a:r>
              <a:rPr dirty="0" sz="1550">
                <a:latin typeface="Times New Roman"/>
                <a:cs typeface="Times New Roman"/>
              </a:rPr>
              <a:t>36</a:t>
            </a:r>
            <a:r>
              <a:rPr dirty="0" sz="1550" spc="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features</a:t>
            </a:r>
            <a:r>
              <a:rPr dirty="0" sz="1550" spc="5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were</a:t>
            </a:r>
            <a:r>
              <a:rPr dirty="0" sz="1550" spc="13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selected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for</a:t>
            </a:r>
            <a:r>
              <a:rPr dirty="0" sz="1550" spc="16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anomaly</a:t>
            </a:r>
            <a:endParaRPr sz="1550">
              <a:latin typeface="Times New Roman"/>
              <a:cs typeface="Times New Roman"/>
            </a:endParaRPr>
          </a:p>
          <a:p>
            <a:pPr algn="just" marL="298450">
              <a:lnSpc>
                <a:spcPct val="100000"/>
              </a:lnSpc>
              <a:spcBef>
                <a:spcPts val="90"/>
              </a:spcBef>
            </a:pPr>
            <a:r>
              <a:rPr dirty="0" sz="1550">
                <a:latin typeface="Times New Roman"/>
                <a:cs typeface="Times New Roman"/>
              </a:rPr>
              <a:t>detection</a:t>
            </a:r>
            <a:r>
              <a:rPr dirty="0" sz="1550" spc="1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after</a:t>
            </a:r>
            <a:r>
              <a:rPr dirty="0" sz="1550" spc="19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feature</a:t>
            </a:r>
            <a:r>
              <a:rPr dirty="0" sz="1550" spc="6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creation.</a:t>
            </a:r>
            <a:endParaRPr sz="1550">
              <a:latin typeface="Times New Roman"/>
              <a:cs typeface="Times New Roman"/>
            </a:endParaRPr>
          </a:p>
          <a:p>
            <a:pPr algn="just" marL="294640" marR="10160" indent="-282575">
              <a:lnSpc>
                <a:spcPts val="1950"/>
              </a:lnSpc>
              <a:spcBef>
                <a:spcPts val="10"/>
              </a:spcBef>
              <a:buFont typeface="Arial MT"/>
              <a:buChar char="•"/>
              <a:tabLst>
                <a:tab pos="298450" algn="l"/>
              </a:tabLst>
            </a:pP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features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capture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the</a:t>
            </a:r>
            <a:r>
              <a:rPr dirty="0" sz="1550" spc="110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process</a:t>
            </a:r>
            <a:r>
              <a:rPr dirty="0" sz="1550" spc="120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state, </a:t>
            </a:r>
            <a:r>
              <a:rPr dirty="0" sz="1550" spc="-10">
                <a:latin typeface="Times New Roman"/>
                <a:cs typeface="Times New Roman"/>
              </a:rPr>
              <a:t>	</a:t>
            </a:r>
            <a:r>
              <a:rPr dirty="0" sz="1550">
                <a:latin typeface="Times New Roman"/>
                <a:cs typeface="Times New Roman"/>
              </a:rPr>
              <a:t>relationships,</a:t>
            </a:r>
            <a:r>
              <a:rPr dirty="0" sz="1550" spc="12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changes,</a:t>
            </a:r>
            <a:r>
              <a:rPr dirty="0" sz="1550" spc="235">
                <a:latin typeface="Times New Roman"/>
                <a:cs typeface="Times New Roman"/>
              </a:rPr>
              <a:t> </a:t>
            </a:r>
            <a:r>
              <a:rPr dirty="0" sz="1550">
                <a:latin typeface="Times New Roman"/>
                <a:cs typeface="Times New Roman"/>
              </a:rPr>
              <a:t>variability</a:t>
            </a:r>
            <a:r>
              <a:rPr dirty="0" sz="1550" spc="204">
                <a:latin typeface="Times New Roman"/>
                <a:cs typeface="Times New Roman"/>
              </a:rPr>
              <a:t> </a:t>
            </a:r>
            <a:r>
              <a:rPr dirty="0" sz="1550" spc="-25">
                <a:latin typeface="Times New Roman"/>
                <a:cs typeface="Times New Roman"/>
              </a:rPr>
              <a:t>and </a:t>
            </a:r>
            <a:r>
              <a:rPr dirty="0" sz="1550" spc="-25">
                <a:latin typeface="Times New Roman"/>
                <a:cs typeface="Times New Roman"/>
              </a:rPr>
              <a:t>	</a:t>
            </a:r>
            <a:r>
              <a:rPr dirty="0" sz="1550">
                <a:latin typeface="Times New Roman"/>
                <a:cs typeface="Times New Roman"/>
              </a:rPr>
              <a:t>operating</a:t>
            </a:r>
            <a:r>
              <a:rPr dirty="0" sz="1550" spc="155">
                <a:latin typeface="Times New Roman"/>
                <a:cs typeface="Times New Roman"/>
              </a:rPr>
              <a:t> </a:t>
            </a:r>
            <a:r>
              <a:rPr dirty="0" sz="1550" spc="-10">
                <a:latin typeface="Times New Roman"/>
                <a:cs typeface="Times New Roman"/>
              </a:rPr>
              <a:t>regime..</a:t>
            </a:r>
            <a:endParaRPr sz="1550">
              <a:latin typeface="Times New Roman"/>
              <a:cs typeface="Times New Roman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76351" y="3960495"/>
          <a:ext cx="4591685" cy="2534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2905"/>
                <a:gridCol w="2850515"/>
              </a:tblGrid>
              <a:tr h="431800"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25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Feature</a:t>
                      </a:r>
                      <a:r>
                        <a:rPr dirty="0" sz="1250" spc="-55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2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Group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dirty="0" sz="125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Features</a:t>
                      </a:r>
                      <a:r>
                        <a:rPr dirty="0" sz="1250" spc="-2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1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Created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116205">
                    <a:lnL w="12700">
                      <a:solidFill>
                        <a:srgbClr val="000000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250" spc="-10" b="1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Relationships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250" spc="-2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Temperature</a:t>
                      </a:r>
                      <a:r>
                        <a:rPr dirty="0" sz="1250" spc="-45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35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&amp;</a:t>
                      </a:r>
                      <a:r>
                        <a:rPr dirty="0" sz="1250" spc="-13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draft</a:t>
                      </a:r>
                      <a:r>
                        <a:rPr dirty="0" sz="1250" spc="-85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1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relationships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116839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marL="211454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250" spc="-10" b="1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Changes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250" spc="-2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5,</a:t>
                      </a:r>
                      <a:r>
                        <a:rPr dirty="0" sz="1250" spc="-4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2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30</a:t>
                      </a:r>
                      <a:r>
                        <a:rPr dirty="0" sz="1250" spc="-6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2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&amp;</a:t>
                      </a:r>
                      <a:r>
                        <a:rPr dirty="0" sz="1250" spc="-45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1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60-</a:t>
                      </a:r>
                      <a:r>
                        <a:rPr dirty="0" sz="125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minute</a:t>
                      </a:r>
                      <a:r>
                        <a:rPr dirty="0" sz="1250" spc="-13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1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changes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117475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</a:tr>
              <a:tr h="6235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211454">
                        <a:lnSpc>
                          <a:spcPct val="100000"/>
                        </a:lnSpc>
                      </a:pPr>
                      <a:r>
                        <a:rPr dirty="0" sz="1250" spc="-55" b="1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Rolling</a:t>
                      </a:r>
                      <a:r>
                        <a:rPr dirty="0" sz="1250" spc="-75" b="1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10" b="1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Statistics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212725" marR="168275">
                        <a:lnSpc>
                          <a:spcPct val="105200"/>
                        </a:lnSpc>
                        <a:spcBef>
                          <a:spcPts val="825"/>
                        </a:spcBef>
                      </a:pPr>
                      <a:r>
                        <a:rPr dirty="0" sz="1250" spc="-1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60-</a:t>
                      </a:r>
                      <a:r>
                        <a:rPr dirty="0" sz="125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minute</a:t>
                      </a:r>
                      <a:r>
                        <a:rPr dirty="0" sz="1250" spc="-10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rolling</a:t>
                      </a:r>
                      <a:r>
                        <a:rPr dirty="0" sz="1250" spc="-2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mean</a:t>
                      </a:r>
                      <a:r>
                        <a:rPr dirty="0" sz="1250" spc="-45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2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&amp;</a:t>
                      </a:r>
                      <a:r>
                        <a:rPr dirty="0" sz="125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1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standard deviation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pPr marL="211454" marR="693420">
                        <a:lnSpc>
                          <a:spcPct val="105200"/>
                        </a:lnSpc>
                        <a:spcBef>
                          <a:spcPts val="805"/>
                        </a:spcBef>
                      </a:pPr>
                      <a:r>
                        <a:rPr dirty="0" sz="1250" spc="-60" b="1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Operating </a:t>
                      </a:r>
                      <a:r>
                        <a:rPr dirty="0" sz="1250" spc="-10" b="1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Regime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1022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B4BBBD">
                        <a:alpha val="3490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marL="212725">
                        <a:lnSpc>
                          <a:spcPct val="100000"/>
                        </a:lnSpc>
                      </a:pPr>
                      <a:r>
                        <a:rPr dirty="0" sz="1250" spc="-2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Temperature-</a:t>
                      </a:r>
                      <a:r>
                        <a:rPr dirty="0" sz="125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based</a:t>
                      </a:r>
                      <a:r>
                        <a:rPr dirty="0" sz="1250" spc="135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process</a:t>
                      </a:r>
                      <a:r>
                        <a:rPr dirty="0" sz="1250" spc="175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250" spc="-10">
                          <a:solidFill>
                            <a:srgbClr val="404040"/>
                          </a:solidFill>
                          <a:latin typeface="Tahoma"/>
                          <a:cs typeface="Tahoma"/>
                        </a:rPr>
                        <a:t>regime</a:t>
                      </a:r>
                      <a:endParaRPr sz="1250">
                        <a:latin typeface="Tahoma"/>
                        <a:cs typeface="Tahoma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B4BBBD">
                        <a:alpha val="3490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381625" y="6210300"/>
            <a:ext cx="6810375" cy="647700"/>
          </a:xfrm>
          <a:custGeom>
            <a:avLst/>
            <a:gdLst/>
            <a:ahLst/>
            <a:cxnLst/>
            <a:rect l="l" t="t" r="r" b="b"/>
            <a:pathLst>
              <a:path w="6810375" h="647700">
                <a:moveTo>
                  <a:pt x="6418833" y="0"/>
                </a:moveTo>
                <a:lnTo>
                  <a:pt x="6400403" y="4859"/>
                </a:lnTo>
                <a:lnTo>
                  <a:pt x="6394354" y="6140"/>
                </a:lnTo>
                <a:lnTo>
                  <a:pt x="6389401" y="6182"/>
                </a:lnTo>
                <a:lnTo>
                  <a:pt x="6374257" y="7327"/>
                </a:lnTo>
                <a:lnTo>
                  <a:pt x="6354296" y="8309"/>
                </a:lnTo>
                <a:lnTo>
                  <a:pt x="6335442" y="7643"/>
                </a:lnTo>
                <a:lnTo>
                  <a:pt x="6316089" y="8119"/>
                </a:lnTo>
                <a:lnTo>
                  <a:pt x="6294628" y="12522"/>
                </a:lnTo>
                <a:lnTo>
                  <a:pt x="6280513" y="12265"/>
                </a:lnTo>
                <a:lnTo>
                  <a:pt x="6272387" y="13287"/>
                </a:lnTo>
                <a:lnTo>
                  <a:pt x="6242599" y="22756"/>
                </a:lnTo>
                <a:lnTo>
                  <a:pt x="6226635" y="28454"/>
                </a:lnTo>
                <a:lnTo>
                  <a:pt x="6197219" y="39408"/>
                </a:lnTo>
                <a:lnTo>
                  <a:pt x="6179081" y="39539"/>
                </a:lnTo>
                <a:lnTo>
                  <a:pt x="6164040" y="38657"/>
                </a:lnTo>
                <a:lnTo>
                  <a:pt x="6152284" y="38277"/>
                </a:lnTo>
                <a:lnTo>
                  <a:pt x="6144006" y="39916"/>
                </a:lnTo>
                <a:lnTo>
                  <a:pt x="6122338" y="38792"/>
                </a:lnTo>
                <a:lnTo>
                  <a:pt x="6067192" y="34479"/>
                </a:lnTo>
                <a:lnTo>
                  <a:pt x="6046597" y="33528"/>
                </a:lnTo>
                <a:lnTo>
                  <a:pt x="6041233" y="33461"/>
                </a:lnTo>
                <a:lnTo>
                  <a:pt x="6035405" y="35321"/>
                </a:lnTo>
                <a:lnTo>
                  <a:pt x="6029362" y="37910"/>
                </a:lnTo>
                <a:lnTo>
                  <a:pt x="6023356" y="40030"/>
                </a:lnTo>
                <a:lnTo>
                  <a:pt x="6006399" y="43188"/>
                </a:lnTo>
                <a:lnTo>
                  <a:pt x="5987430" y="43608"/>
                </a:lnTo>
                <a:lnTo>
                  <a:pt x="5969152" y="43709"/>
                </a:lnTo>
                <a:lnTo>
                  <a:pt x="5948933" y="46634"/>
                </a:lnTo>
                <a:lnTo>
                  <a:pt x="5944108" y="46837"/>
                </a:lnTo>
                <a:lnTo>
                  <a:pt x="5939535" y="46736"/>
                </a:lnTo>
                <a:lnTo>
                  <a:pt x="5927090" y="45732"/>
                </a:lnTo>
                <a:lnTo>
                  <a:pt x="5924423" y="44005"/>
                </a:lnTo>
                <a:lnTo>
                  <a:pt x="5916422" y="44183"/>
                </a:lnTo>
                <a:lnTo>
                  <a:pt x="5906389" y="42735"/>
                </a:lnTo>
                <a:lnTo>
                  <a:pt x="5902325" y="42456"/>
                </a:lnTo>
                <a:lnTo>
                  <a:pt x="5897350" y="45892"/>
                </a:lnTo>
                <a:lnTo>
                  <a:pt x="5886243" y="45896"/>
                </a:lnTo>
                <a:lnTo>
                  <a:pt x="5876446" y="45640"/>
                </a:lnTo>
                <a:lnTo>
                  <a:pt x="5875401" y="48298"/>
                </a:lnTo>
                <a:lnTo>
                  <a:pt x="5841126" y="49622"/>
                </a:lnTo>
                <a:lnTo>
                  <a:pt x="5823626" y="49198"/>
                </a:lnTo>
                <a:lnTo>
                  <a:pt x="5806185" y="46088"/>
                </a:lnTo>
                <a:lnTo>
                  <a:pt x="5702300" y="53619"/>
                </a:lnTo>
                <a:lnTo>
                  <a:pt x="5671427" y="57696"/>
                </a:lnTo>
                <a:lnTo>
                  <a:pt x="5605537" y="67808"/>
                </a:lnTo>
                <a:lnTo>
                  <a:pt x="5575808" y="71564"/>
                </a:lnTo>
                <a:lnTo>
                  <a:pt x="5551882" y="73213"/>
                </a:lnTo>
                <a:lnTo>
                  <a:pt x="5529183" y="75552"/>
                </a:lnTo>
                <a:lnTo>
                  <a:pt x="5506745" y="76929"/>
                </a:lnTo>
                <a:lnTo>
                  <a:pt x="5483606" y="75692"/>
                </a:lnTo>
                <a:lnTo>
                  <a:pt x="5481828" y="76949"/>
                </a:lnTo>
                <a:lnTo>
                  <a:pt x="5479542" y="77965"/>
                </a:lnTo>
                <a:lnTo>
                  <a:pt x="5476875" y="78828"/>
                </a:lnTo>
                <a:lnTo>
                  <a:pt x="5468366" y="80848"/>
                </a:lnTo>
                <a:lnTo>
                  <a:pt x="5466969" y="80645"/>
                </a:lnTo>
                <a:lnTo>
                  <a:pt x="5454523" y="82778"/>
                </a:lnTo>
                <a:lnTo>
                  <a:pt x="5409310" y="89179"/>
                </a:lnTo>
                <a:lnTo>
                  <a:pt x="5407279" y="88277"/>
                </a:lnTo>
                <a:lnTo>
                  <a:pt x="5405120" y="87960"/>
                </a:lnTo>
                <a:lnTo>
                  <a:pt x="5401945" y="88226"/>
                </a:lnTo>
                <a:lnTo>
                  <a:pt x="5403977" y="82854"/>
                </a:lnTo>
                <a:lnTo>
                  <a:pt x="5398897" y="86487"/>
                </a:lnTo>
                <a:lnTo>
                  <a:pt x="5389245" y="87756"/>
                </a:lnTo>
                <a:lnTo>
                  <a:pt x="5385732" y="84070"/>
                </a:lnTo>
                <a:lnTo>
                  <a:pt x="5376481" y="83526"/>
                </a:lnTo>
                <a:lnTo>
                  <a:pt x="5365706" y="83779"/>
                </a:lnTo>
                <a:lnTo>
                  <a:pt x="5357622" y="82486"/>
                </a:lnTo>
                <a:lnTo>
                  <a:pt x="5350509" y="83604"/>
                </a:lnTo>
                <a:lnTo>
                  <a:pt x="5335397" y="85521"/>
                </a:lnTo>
                <a:lnTo>
                  <a:pt x="5329555" y="85813"/>
                </a:lnTo>
                <a:lnTo>
                  <a:pt x="5322443" y="86715"/>
                </a:lnTo>
                <a:lnTo>
                  <a:pt x="5310124" y="87325"/>
                </a:lnTo>
                <a:lnTo>
                  <a:pt x="5303535" y="84374"/>
                </a:lnTo>
                <a:lnTo>
                  <a:pt x="5299138" y="80581"/>
                </a:lnTo>
                <a:lnTo>
                  <a:pt x="5293121" y="78302"/>
                </a:lnTo>
                <a:lnTo>
                  <a:pt x="5281676" y="79895"/>
                </a:lnTo>
                <a:lnTo>
                  <a:pt x="5265854" y="78536"/>
                </a:lnTo>
                <a:lnTo>
                  <a:pt x="5252164" y="76573"/>
                </a:lnTo>
                <a:lnTo>
                  <a:pt x="5238402" y="75379"/>
                </a:lnTo>
                <a:lnTo>
                  <a:pt x="5222367" y="76326"/>
                </a:lnTo>
                <a:lnTo>
                  <a:pt x="5206599" y="75440"/>
                </a:lnTo>
                <a:lnTo>
                  <a:pt x="5191855" y="74331"/>
                </a:lnTo>
                <a:lnTo>
                  <a:pt x="5177539" y="73582"/>
                </a:lnTo>
                <a:lnTo>
                  <a:pt x="5163058" y="73774"/>
                </a:lnTo>
                <a:lnTo>
                  <a:pt x="5156581" y="71704"/>
                </a:lnTo>
                <a:lnTo>
                  <a:pt x="5149850" y="70751"/>
                </a:lnTo>
                <a:lnTo>
                  <a:pt x="5141341" y="73317"/>
                </a:lnTo>
                <a:lnTo>
                  <a:pt x="5129164" y="71844"/>
                </a:lnTo>
                <a:lnTo>
                  <a:pt x="5120703" y="70283"/>
                </a:lnTo>
                <a:lnTo>
                  <a:pt x="5113194" y="69514"/>
                </a:lnTo>
                <a:lnTo>
                  <a:pt x="5103876" y="70421"/>
                </a:lnTo>
                <a:lnTo>
                  <a:pt x="5069840" y="66675"/>
                </a:lnTo>
                <a:lnTo>
                  <a:pt x="5067554" y="66763"/>
                </a:lnTo>
                <a:lnTo>
                  <a:pt x="5060188" y="66459"/>
                </a:lnTo>
                <a:lnTo>
                  <a:pt x="5011166" y="59448"/>
                </a:lnTo>
                <a:lnTo>
                  <a:pt x="4999291" y="60706"/>
                </a:lnTo>
                <a:lnTo>
                  <a:pt x="4997378" y="60305"/>
                </a:lnTo>
                <a:lnTo>
                  <a:pt x="4999608" y="57848"/>
                </a:lnTo>
                <a:lnTo>
                  <a:pt x="4996433" y="57835"/>
                </a:lnTo>
                <a:lnTo>
                  <a:pt x="4994656" y="57340"/>
                </a:lnTo>
                <a:lnTo>
                  <a:pt x="4993640" y="56603"/>
                </a:lnTo>
                <a:lnTo>
                  <a:pt x="4993513" y="56261"/>
                </a:lnTo>
                <a:lnTo>
                  <a:pt x="4971033" y="57251"/>
                </a:lnTo>
                <a:lnTo>
                  <a:pt x="4968367" y="56781"/>
                </a:lnTo>
                <a:lnTo>
                  <a:pt x="4945633" y="58521"/>
                </a:lnTo>
                <a:lnTo>
                  <a:pt x="4943094" y="59461"/>
                </a:lnTo>
                <a:lnTo>
                  <a:pt x="4931029" y="59181"/>
                </a:lnTo>
                <a:lnTo>
                  <a:pt x="4921377" y="60413"/>
                </a:lnTo>
                <a:lnTo>
                  <a:pt x="4918075" y="61010"/>
                </a:lnTo>
                <a:lnTo>
                  <a:pt x="4915154" y="61810"/>
                </a:lnTo>
                <a:lnTo>
                  <a:pt x="4912359" y="62877"/>
                </a:lnTo>
                <a:lnTo>
                  <a:pt x="4891573" y="59594"/>
                </a:lnTo>
                <a:lnTo>
                  <a:pt x="4869322" y="58947"/>
                </a:lnTo>
                <a:lnTo>
                  <a:pt x="4846048" y="59223"/>
                </a:lnTo>
                <a:lnTo>
                  <a:pt x="4822190" y="58712"/>
                </a:lnTo>
                <a:lnTo>
                  <a:pt x="4793882" y="61248"/>
                </a:lnTo>
                <a:lnTo>
                  <a:pt x="4738554" y="71374"/>
                </a:lnTo>
                <a:lnTo>
                  <a:pt x="4713605" y="73253"/>
                </a:lnTo>
                <a:lnTo>
                  <a:pt x="4702321" y="71322"/>
                </a:lnTo>
                <a:lnTo>
                  <a:pt x="4686490" y="66541"/>
                </a:lnTo>
                <a:lnTo>
                  <a:pt x="4666563" y="61798"/>
                </a:lnTo>
                <a:lnTo>
                  <a:pt x="4642993" y="59982"/>
                </a:lnTo>
                <a:lnTo>
                  <a:pt x="4618085" y="61969"/>
                </a:lnTo>
                <a:lnTo>
                  <a:pt x="4597654" y="60413"/>
                </a:lnTo>
                <a:lnTo>
                  <a:pt x="4576841" y="58096"/>
                </a:lnTo>
                <a:lnTo>
                  <a:pt x="4550791" y="57797"/>
                </a:lnTo>
                <a:lnTo>
                  <a:pt x="4542049" y="54022"/>
                </a:lnTo>
                <a:lnTo>
                  <a:pt x="4537344" y="53890"/>
                </a:lnTo>
                <a:lnTo>
                  <a:pt x="4531806" y="54966"/>
                </a:lnTo>
                <a:lnTo>
                  <a:pt x="4510327" y="54796"/>
                </a:lnTo>
                <a:lnTo>
                  <a:pt x="4480306" y="55689"/>
                </a:lnTo>
                <a:lnTo>
                  <a:pt x="4478655" y="55206"/>
                </a:lnTo>
                <a:lnTo>
                  <a:pt x="4470908" y="54660"/>
                </a:lnTo>
                <a:lnTo>
                  <a:pt x="4469765" y="52717"/>
                </a:lnTo>
                <a:lnTo>
                  <a:pt x="4458843" y="50622"/>
                </a:lnTo>
                <a:lnTo>
                  <a:pt x="4454652" y="50114"/>
                </a:lnTo>
                <a:lnTo>
                  <a:pt x="4449826" y="49898"/>
                </a:lnTo>
                <a:lnTo>
                  <a:pt x="4428482" y="50963"/>
                </a:lnTo>
                <a:lnTo>
                  <a:pt x="4411122" y="49429"/>
                </a:lnTo>
                <a:lnTo>
                  <a:pt x="4392858" y="48146"/>
                </a:lnTo>
                <a:lnTo>
                  <a:pt x="4374260" y="49733"/>
                </a:lnTo>
                <a:lnTo>
                  <a:pt x="4366768" y="49479"/>
                </a:lnTo>
                <a:lnTo>
                  <a:pt x="4307332" y="46164"/>
                </a:lnTo>
                <a:lnTo>
                  <a:pt x="4258210" y="40181"/>
                </a:lnTo>
                <a:lnTo>
                  <a:pt x="4203446" y="37511"/>
                </a:lnTo>
                <a:lnTo>
                  <a:pt x="4147061" y="36786"/>
                </a:lnTo>
                <a:lnTo>
                  <a:pt x="4093082" y="36639"/>
                </a:lnTo>
                <a:lnTo>
                  <a:pt x="4043437" y="36750"/>
                </a:lnTo>
                <a:lnTo>
                  <a:pt x="3995673" y="37831"/>
                </a:lnTo>
                <a:lnTo>
                  <a:pt x="3947243" y="40063"/>
                </a:lnTo>
                <a:lnTo>
                  <a:pt x="3895598" y="43624"/>
                </a:lnTo>
                <a:lnTo>
                  <a:pt x="3775202" y="58280"/>
                </a:lnTo>
                <a:lnTo>
                  <a:pt x="3750903" y="59511"/>
                </a:lnTo>
                <a:lnTo>
                  <a:pt x="3703925" y="57305"/>
                </a:lnTo>
                <a:lnTo>
                  <a:pt x="3681983" y="58293"/>
                </a:lnTo>
                <a:lnTo>
                  <a:pt x="3673824" y="67935"/>
                </a:lnTo>
                <a:lnTo>
                  <a:pt x="3658996" y="79119"/>
                </a:lnTo>
                <a:lnTo>
                  <a:pt x="3641693" y="87005"/>
                </a:lnTo>
                <a:lnTo>
                  <a:pt x="3626104" y="86753"/>
                </a:lnTo>
                <a:lnTo>
                  <a:pt x="3602420" y="89103"/>
                </a:lnTo>
                <a:lnTo>
                  <a:pt x="3580082" y="92105"/>
                </a:lnTo>
                <a:lnTo>
                  <a:pt x="3557863" y="94142"/>
                </a:lnTo>
                <a:lnTo>
                  <a:pt x="3534536" y="93598"/>
                </a:lnTo>
                <a:lnTo>
                  <a:pt x="3533013" y="94907"/>
                </a:lnTo>
                <a:lnTo>
                  <a:pt x="3510406" y="99961"/>
                </a:lnTo>
                <a:lnTo>
                  <a:pt x="3508121" y="100355"/>
                </a:lnTo>
                <a:lnTo>
                  <a:pt x="3506470" y="101523"/>
                </a:lnTo>
                <a:lnTo>
                  <a:pt x="3483102" y="105664"/>
                </a:lnTo>
                <a:lnTo>
                  <a:pt x="3475978" y="106537"/>
                </a:lnTo>
                <a:lnTo>
                  <a:pt x="3454654" y="108508"/>
                </a:lnTo>
                <a:lnTo>
                  <a:pt x="3455924" y="103098"/>
                </a:lnTo>
                <a:lnTo>
                  <a:pt x="3451352" y="106870"/>
                </a:lnTo>
                <a:lnTo>
                  <a:pt x="3441954" y="108419"/>
                </a:lnTo>
                <a:lnTo>
                  <a:pt x="3437856" y="104852"/>
                </a:lnTo>
                <a:lnTo>
                  <a:pt x="3428507" y="104586"/>
                </a:lnTo>
                <a:lnTo>
                  <a:pt x="3417754" y="105160"/>
                </a:lnTo>
                <a:lnTo>
                  <a:pt x="3409442" y="104114"/>
                </a:lnTo>
                <a:lnTo>
                  <a:pt x="3383788" y="121627"/>
                </a:lnTo>
                <a:lnTo>
                  <a:pt x="3354197" y="118605"/>
                </a:lnTo>
                <a:lnTo>
                  <a:pt x="3339115" y="119511"/>
                </a:lnTo>
                <a:lnTo>
                  <a:pt x="3329301" y="118732"/>
                </a:lnTo>
                <a:lnTo>
                  <a:pt x="3320415" y="115417"/>
                </a:lnTo>
                <a:lnTo>
                  <a:pt x="3308730" y="119646"/>
                </a:lnTo>
                <a:lnTo>
                  <a:pt x="3308984" y="111467"/>
                </a:lnTo>
                <a:lnTo>
                  <a:pt x="3295777" y="110756"/>
                </a:lnTo>
                <a:lnTo>
                  <a:pt x="3289173" y="114388"/>
                </a:lnTo>
                <a:lnTo>
                  <a:pt x="3280918" y="113271"/>
                </a:lnTo>
                <a:lnTo>
                  <a:pt x="3267086" y="115155"/>
                </a:lnTo>
                <a:lnTo>
                  <a:pt x="3252470" y="116158"/>
                </a:lnTo>
                <a:lnTo>
                  <a:pt x="3237091" y="116884"/>
                </a:lnTo>
                <a:lnTo>
                  <a:pt x="3220974" y="117932"/>
                </a:lnTo>
                <a:lnTo>
                  <a:pt x="3206287" y="120694"/>
                </a:lnTo>
                <a:lnTo>
                  <a:pt x="3191779" y="121229"/>
                </a:lnTo>
                <a:lnTo>
                  <a:pt x="3176629" y="121052"/>
                </a:lnTo>
                <a:lnTo>
                  <a:pt x="3160014" y="121678"/>
                </a:lnTo>
                <a:lnTo>
                  <a:pt x="3150417" y="124484"/>
                </a:lnTo>
                <a:lnTo>
                  <a:pt x="3142392" y="123110"/>
                </a:lnTo>
                <a:lnTo>
                  <a:pt x="3134510" y="120160"/>
                </a:lnTo>
                <a:lnTo>
                  <a:pt x="3125343" y="118237"/>
                </a:lnTo>
                <a:lnTo>
                  <a:pt x="3121786" y="118440"/>
                </a:lnTo>
                <a:lnTo>
                  <a:pt x="3113913" y="120256"/>
                </a:lnTo>
                <a:lnTo>
                  <a:pt x="3109341" y="121678"/>
                </a:lnTo>
                <a:lnTo>
                  <a:pt x="3106801" y="121996"/>
                </a:lnTo>
                <a:lnTo>
                  <a:pt x="3095879" y="124612"/>
                </a:lnTo>
                <a:lnTo>
                  <a:pt x="3083814" y="128282"/>
                </a:lnTo>
                <a:lnTo>
                  <a:pt x="3074737" y="128056"/>
                </a:lnTo>
                <a:lnTo>
                  <a:pt x="3064541" y="129562"/>
                </a:lnTo>
                <a:lnTo>
                  <a:pt x="3055060" y="130157"/>
                </a:lnTo>
                <a:lnTo>
                  <a:pt x="3048127" y="127203"/>
                </a:lnTo>
                <a:lnTo>
                  <a:pt x="3039999" y="129489"/>
                </a:lnTo>
                <a:lnTo>
                  <a:pt x="3038475" y="133413"/>
                </a:lnTo>
                <a:lnTo>
                  <a:pt x="3035300" y="128270"/>
                </a:lnTo>
                <a:lnTo>
                  <a:pt x="3032505" y="128892"/>
                </a:lnTo>
                <a:lnTo>
                  <a:pt x="3030220" y="128854"/>
                </a:lnTo>
                <a:lnTo>
                  <a:pt x="3027299" y="128270"/>
                </a:lnTo>
                <a:lnTo>
                  <a:pt x="3009392" y="133476"/>
                </a:lnTo>
                <a:lnTo>
                  <a:pt x="3006344" y="133642"/>
                </a:lnTo>
                <a:lnTo>
                  <a:pt x="2995549" y="137718"/>
                </a:lnTo>
                <a:lnTo>
                  <a:pt x="2989579" y="139458"/>
                </a:lnTo>
                <a:lnTo>
                  <a:pt x="2988818" y="140703"/>
                </a:lnTo>
                <a:lnTo>
                  <a:pt x="2987548" y="141617"/>
                </a:lnTo>
                <a:lnTo>
                  <a:pt x="2985007" y="142417"/>
                </a:lnTo>
                <a:lnTo>
                  <a:pt x="2978023" y="142862"/>
                </a:lnTo>
                <a:lnTo>
                  <a:pt x="2971673" y="145719"/>
                </a:lnTo>
                <a:lnTo>
                  <a:pt x="2969895" y="146824"/>
                </a:lnTo>
                <a:lnTo>
                  <a:pt x="2968498" y="148031"/>
                </a:lnTo>
                <a:lnTo>
                  <a:pt x="2967990" y="149377"/>
                </a:lnTo>
                <a:lnTo>
                  <a:pt x="2944401" y="150985"/>
                </a:lnTo>
                <a:lnTo>
                  <a:pt x="2923968" y="154897"/>
                </a:lnTo>
                <a:lnTo>
                  <a:pt x="2904178" y="159716"/>
                </a:lnTo>
                <a:lnTo>
                  <a:pt x="2882519" y="164045"/>
                </a:lnTo>
                <a:lnTo>
                  <a:pt x="2862722" y="163982"/>
                </a:lnTo>
                <a:lnTo>
                  <a:pt x="2842831" y="170183"/>
                </a:lnTo>
                <a:lnTo>
                  <a:pt x="2828083" y="179237"/>
                </a:lnTo>
                <a:lnTo>
                  <a:pt x="2823718" y="187731"/>
                </a:lnTo>
                <a:lnTo>
                  <a:pt x="2810198" y="187240"/>
                </a:lnTo>
                <a:lnTo>
                  <a:pt x="2780016" y="199607"/>
                </a:lnTo>
                <a:lnTo>
                  <a:pt x="2776854" y="195402"/>
                </a:lnTo>
                <a:lnTo>
                  <a:pt x="2769175" y="196701"/>
                </a:lnTo>
                <a:lnTo>
                  <a:pt x="2761329" y="196530"/>
                </a:lnTo>
                <a:lnTo>
                  <a:pt x="2755530" y="195071"/>
                </a:lnTo>
                <a:lnTo>
                  <a:pt x="2753995" y="192506"/>
                </a:lnTo>
                <a:lnTo>
                  <a:pt x="2731827" y="200194"/>
                </a:lnTo>
                <a:lnTo>
                  <a:pt x="2702861" y="205784"/>
                </a:lnTo>
                <a:lnTo>
                  <a:pt x="2672252" y="210869"/>
                </a:lnTo>
                <a:lnTo>
                  <a:pt x="2645155" y="217043"/>
                </a:lnTo>
                <a:lnTo>
                  <a:pt x="2630804" y="215392"/>
                </a:lnTo>
                <a:lnTo>
                  <a:pt x="2628519" y="215684"/>
                </a:lnTo>
                <a:lnTo>
                  <a:pt x="2626995" y="216700"/>
                </a:lnTo>
                <a:lnTo>
                  <a:pt x="2614929" y="220421"/>
                </a:lnTo>
                <a:lnTo>
                  <a:pt x="2540761" y="219354"/>
                </a:lnTo>
                <a:lnTo>
                  <a:pt x="2482992" y="219700"/>
                </a:lnTo>
                <a:lnTo>
                  <a:pt x="2450590" y="221915"/>
                </a:lnTo>
                <a:lnTo>
                  <a:pt x="2411222" y="228257"/>
                </a:lnTo>
                <a:lnTo>
                  <a:pt x="2370158" y="237029"/>
                </a:lnTo>
                <a:lnTo>
                  <a:pt x="2321371" y="248396"/>
                </a:lnTo>
                <a:lnTo>
                  <a:pt x="2270852" y="261763"/>
                </a:lnTo>
                <a:lnTo>
                  <a:pt x="2224594" y="276537"/>
                </a:lnTo>
                <a:lnTo>
                  <a:pt x="2188591" y="292125"/>
                </a:lnTo>
                <a:lnTo>
                  <a:pt x="2170358" y="299067"/>
                </a:lnTo>
                <a:lnTo>
                  <a:pt x="2104080" y="314431"/>
                </a:lnTo>
                <a:lnTo>
                  <a:pt x="2085848" y="321373"/>
                </a:lnTo>
                <a:lnTo>
                  <a:pt x="2080164" y="320374"/>
                </a:lnTo>
                <a:lnTo>
                  <a:pt x="2061575" y="322375"/>
                </a:lnTo>
                <a:lnTo>
                  <a:pt x="2058161" y="320751"/>
                </a:lnTo>
                <a:lnTo>
                  <a:pt x="2050428" y="320974"/>
                </a:lnTo>
                <a:lnTo>
                  <a:pt x="2041534" y="324312"/>
                </a:lnTo>
                <a:lnTo>
                  <a:pt x="2034158" y="324764"/>
                </a:lnTo>
                <a:lnTo>
                  <a:pt x="2030983" y="325812"/>
                </a:lnTo>
                <a:lnTo>
                  <a:pt x="2037445" y="328129"/>
                </a:lnTo>
                <a:lnTo>
                  <a:pt x="2034413" y="329806"/>
                </a:lnTo>
                <a:lnTo>
                  <a:pt x="2027213" y="332158"/>
                </a:lnTo>
                <a:lnTo>
                  <a:pt x="2023681" y="334429"/>
                </a:lnTo>
                <a:lnTo>
                  <a:pt x="2018625" y="335128"/>
                </a:lnTo>
                <a:lnTo>
                  <a:pt x="2006853" y="332765"/>
                </a:lnTo>
                <a:lnTo>
                  <a:pt x="1998475" y="335152"/>
                </a:lnTo>
                <a:lnTo>
                  <a:pt x="1989740" y="335799"/>
                </a:lnTo>
                <a:lnTo>
                  <a:pt x="1978957" y="335939"/>
                </a:lnTo>
                <a:lnTo>
                  <a:pt x="1964435" y="336804"/>
                </a:lnTo>
                <a:lnTo>
                  <a:pt x="1958975" y="338632"/>
                </a:lnTo>
                <a:lnTo>
                  <a:pt x="1949957" y="335775"/>
                </a:lnTo>
                <a:lnTo>
                  <a:pt x="1945131" y="334733"/>
                </a:lnTo>
                <a:lnTo>
                  <a:pt x="1939671" y="334340"/>
                </a:lnTo>
                <a:lnTo>
                  <a:pt x="1933067" y="335470"/>
                </a:lnTo>
                <a:lnTo>
                  <a:pt x="1915715" y="340346"/>
                </a:lnTo>
                <a:lnTo>
                  <a:pt x="1908555" y="338939"/>
                </a:lnTo>
                <a:lnTo>
                  <a:pt x="1896062" y="337343"/>
                </a:lnTo>
                <a:lnTo>
                  <a:pt x="1862708" y="341655"/>
                </a:lnTo>
                <a:lnTo>
                  <a:pt x="1860042" y="343369"/>
                </a:lnTo>
                <a:lnTo>
                  <a:pt x="1850644" y="343382"/>
                </a:lnTo>
                <a:lnTo>
                  <a:pt x="1849881" y="341668"/>
                </a:lnTo>
                <a:lnTo>
                  <a:pt x="1846072" y="342785"/>
                </a:lnTo>
                <a:lnTo>
                  <a:pt x="1838959" y="347332"/>
                </a:lnTo>
                <a:lnTo>
                  <a:pt x="1835403" y="344932"/>
                </a:lnTo>
                <a:lnTo>
                  <a:pt x="1819370" y="347379"/>
                </a:lnTo>
                <a:lnTo>
                  <a:pt x="1804289" y="350456"/>
                </a:lnTo>
                <a:lnTo>
                  <a:pt x="1784857" y="356120"/>
                </a:lnTo>
                <a:lnTo>
                  <a:pt x="1778761" y="354634"/>
                </a:lnTo>
                <a:lnTo>
                  <a:pt x="1774698" y="354012"/>
                </a:lnTo>
                <a:lnTo>
                  <a:pt x="1770379" y="353860"/>
                </a:lnTo>
                <a:lnTo>
                  <a:pt x="1765553" y="354876"/>
                </a:lnTo>
                <a:lnTo>
                  <a:pt x="1753238" y="358949"/>
                </a:lnTo>
                <a:lnTo>
                  <a:pt x="1747329" y="358106"/>
                </a:lnTo>
                <a:lnTo>
                  <a:pt x="1737229" y="357271"/>
                </a:lnTo>
                <a:lnTo>
                  <a:pt x="1712341" y="361365"/>
                </a:lnTo>
                <a:lnTo>
                  <a:pt x="1704719" y="360891"/>
                </a:lnTo>
                <a:lnTo>
                  <a:pt x="1699180" y="358305"/>
                </a:lnTo>
                <a:lnTo>
                  <a:pt x="1693999" y="355490"/>
                </a:lnTo>
                <a:lnTo>
                  <a:pt x="1687449" y="354330"/>
                </a:lnTo>
                <a:lnTo>
                  <a:pt x="1676348" y="356261"/>
                </a:lnTo>
                <a:lnTo>
                  <a:pt x="1666938" y="358249"/>
                </a:lnTo>
                <a:lnTo>
                  <a:pt x="1658481" y="360639"/>
                </a:lnTo>
                <a:lnTo>
                  <a:pt x="1650238" y="363778"/>
                </a:lnTo>
                <a:lnTo>
                  <a:pt x="1639712" y="366745"/>
                </a:lnTo>
                <a:lnTo>
                  <a:pt x="1633759" y="372225"/>
                </a:lnTo>
                <a:lnTo>
                  <a:pt x="1631092" y="377860"/>
                </a:lnTo>
                <a:lnTo>
                  <a:pt x="1630426" y="381292"/>
                </a:lnTo>
                <a:lnTo>
                  <a:pt x="1629918" y="382625"/>
                </a:lnTo>
                <a:lnTo>
                  <a:pt x="1624456" y="381774"/>
                </a:lnTo>
                <a:lnTo>
                  <a:pt x="1618869" y="381622"/>
                </a:lnTo>
                <a:lnTo>
                  <a:pt x="1614297" y="382917"/>
                </a:lnTo>
                <a:lnTo>
                  <a:pt x="1610105" y="384911"/>
                </a:lnTo>
                <a:lnTo>
                  <a:pt x="1595374" y="389051"/>
                </a:lnTo>
                <a:lnTo>
                  <a:pt x="1590335" y="389952"/>
                </a:lnTo>
                <a:lnTo>
                  <a:pt x="1578211" y="391648"/>
                </a:lnTo>
                <a:lnTo>
                  <a:pt x="1570101" y="392277"/>
                </a:lnTo>
                <a:lnTo>
                  <a:pt x="1567263" y="395818"/>
                </a:lnTo>
                <a:lnTo>
                  <a:pt x="1559591" y="396822"/>
                </a:lnTo>
                <a:lnTo>
                  <a:pt x="1550634" y="397062"/>
                </a:lnTo>
                <a:lnTo>
                  <a:pt x="1543939" y="398310"/>
                </a:lnTo>
                <a:lnTo>
                  <a:pt x="1521047" y="404877"/>
                </a:lnTo>
                <a:lnTo>
                  <a:pt x="1508756" y="408127"/>
                </a:lnTo>
                <a:lnTo>
                  <a:pt x="1498346" y="409892"/>
                </a:lnTo>
                <a:lnTo>
                  <a:pt x="1494367" y="406910"/>
                </a:lnTo>
                <a:lnTo>
                  <a:pt x="1490043" y="404166"/>
                </a:lnTo>
                <a:lnTo>
                  <a:pt x="1483647" y="402700"/>
                </a:lnTo>
                <a:lnTo>
                  <a:pt x="1473453" y="403555"/>
                </a:lnTo>
                <a:lnTo>
                  <a:pt x="1467064" y="405441"/>
                </a:lnTo>
                <a:lnTo>
                  <a:pt x="1460531" y="408889"/>
                </a:lnTo>
                <a:lnTo>
                  <a:pt x="1454237" y="412584"/>
                </a:lnTo>
                <a:lnTo>
                  <a:pt x="1448561" y="415213"/>
                </a:lnTo>
                <a:lnTo>
                  <a:pt x="1424431" y="417690"/>
                </a:lnTo>
                <a:lnTo>
                  <a:pt x="1426209" y="420166"/>
                </a:lnTo>
                <a:lnTo>
                  <a:pt x="1409192" y="427024"/>
                </a:lnTo>
                <a:lnTo>
                  <a:pt x="1387982" y="434606"/>
                </a:lnTo>
                <a:lnTo>
                  <a:pt x="1381952" y="438079"/>
                </a:lnTo>
                <a:lnTo>
                  <a:pt x="1358604" y="439591"/>
                </a:lnTo>
                <a:lnTo>
                  <a:pt x="1356359" y="442899"/>
                </a:lnTo>
                <a:lnTo>
                  <a:pt x="1344207" y="442845"/>
                </a:lnTo>
                <a:lnTo>
                  <a:pt x="1331912" y="445871"/>
                </a:lnTo>
                <a:lnTo>
                  <a:pt x="1318855" y="449936"/>
                </a:lnTo>
                <a:lnTo>
                  <a:pt x="1304417" y="452996"/>
                </a:lnTo>
                <a:lnTo>
                  <a:pt x="1303401" y="456780"/>
                </a:lnTo>
                <a:lnTo>
                  <a:pt x="1298702" y="457250"/>
                </a:lnTo>
                <a:lnTo>
                  <a:pt x="1289050" y="456565"/>
                </a:lnTo>
                <a:lnTo>
                  <a:pt x="1241208" y="467941"/>
                </a:lnTo>
                <a:lnTo>
                  <a:pt x="1198832" y="485066"/>
                </a:lnTo>
                <a:lnTo>
                  <a:pt x="1164766" y="498205"/>
                </a:lnTo>
                <a:lnTo>
                  <a:pt x="1123086" y="497352"/>
                </a:lnTo>
                <a:lnTo>
                  <a:pt x="1094374" y="495666"/>
                </a:lnTo>
                <a:lnTo>
                  <a:pt x="1061972" y="495064"/>
                </a:lnTo>
                <a:lnTo>
                  <a:pt x="1032128" y="498043"/>
                </a:lnTo>
                <a:lnTo>
                  <a:pt x="1013305" y="503839"/>
                </a:lnTo>
                <a:lnTo>
                  <a:pt x="980217" y="507231"/>
                </a:lnTo>
                <a:lnTo>
                  <a:pt x="945653" y="509308"/>
                </a:lnTo>
                <a:lnTo>
                  <a:pt x="922401" y="511162"/>
                </a:lnTo>
                <a:lnTo>
                  <a:pt x="917285" y="514346"/>
                </a:lnTo>
                <a:lnTo>
                  <a:pt x="906716" y="516467"/>
                </a:lnTo>
                <a:lnTo>
                  <a:pt x="897576" y="518927"/>
                </a:lnTo>
                <a:lnTo>
                  <a:pt x="896747" y="523124"/>
                </a:lnTo>
                <a:lnTo>
                  <a:pt x="894969" y="526779"/>
                </a:lnTo>
                <a:lnTo>
                  <a:pt x="885951" y="527762"/>
                </a:lnTo>
                <a:lnTo>
                  <a:pt x="879983" y="525335"/>
                </a:lnTo>
                <a:lnTo>
                  <a:pt x="867171" y="528818"/>
                </a:lnTo>
                <a:lnTo>
                  <a:pt x="860534" y="529533"/>
                </a:lnTo>
                <a:lnTo>
                  <a:pt x="851788" y="528209"/>
                </a:lnTo>
                <a:lnTo>
                  <a:pt x="842006" y="531538"/>
                </a:lnTo>
                <a:lnTo>
                  <a:pt x="833247" y="536058"/>
                </a:lnTo>
                <a:lnTo>
                  <a:pt x="824106" y="538984"/>
                </a:lnTo>
                <a:lnTo>
                  <a:pt x="813180" y="537536"/>
                </a:lnTo>
                <a:lnTo>
                  <a:pt x="801721" y="541801"/>
                </a:lnTo>
                <a:lnTo>
                  <a:pt x="779700" y="538988"/>
                </a:lnTo>
                <a:lnTo>
                  <a:pt x="753369" y="534747"/>
                </a:lnTo>
                <a:lnTo>
                  <a:pt x="728979" y="534730"/>
                </a:lnTo>
                <a:lnTo>
                  <a:pt x="691677" y="546181"/>
                </a:lnTo>
                <a:lnTo>
                  <a:pt x="653065" y="556280"/>
                </a:lnTo>
                <a:lnTo>
                  <a:pt x="620216" y="567700"/>
                </a:lnTo>
                <a:lnTo>
                  <a:pt x="600201" y="583112"/>
                </a:lnTo>
                <a:lnTo>
                  <a:pt x="561780" y="584711"/>
                </a:lnTo>
                <a:lnTo>
                  <a:pt x="528097" y="589179"/>
                </a:lnTo>
                <a:lnTo>
                  <a:pt x="497224" y="594754"/>
                </a:lnTo>
                <a:lnTo>
                  <a:pt x="467233" y="599668"/>
                </a:lnTo>
                <a:lnTo>
                  <a:pt x="454634" y="601396"/>
                </a:lnTo>
                <a:lnTo>
                  <a:pt x="442833" y="601372"/>
                </a:lnTo>
                <a:lnTo>
                  <a:pt x="431960" y="602083"/>
                </a:lnTo>
                <a:lnTo>
                  <a:pt x="422148" y="606013"/>
                </a:lnTo>
                <a:lnTo>
                  <a:pt x="385956" y="603874"/>
                </a:lnTo>
                <a:lnTo>
                  <a:pt x="339598" y="597844"/>
                </a:lnTo>
                <a:lnTo>
                  <a:pt x="292096" y="592175"/>
                </a:lnTo>
                <a:lnTo>
                  <a:pt x="252475" y="591117"/>
                </a:lnTo>
                <a:lnTo>
                  <a:pt x="236241" y="598385"/>
                </a:lnTo>
                <a:lnTo>
                  <a:pt x="216233" y="604117"/>
                </a:lnTo>
                <a:lnTo>
                  <a:pt x="196629" y="610373"/>
                </a:lnTo>
                <a:lnTo>
                  <a:pt x="181610" y="619213"/>
                </a:lnTo>
                <a:lnTo>
                  <a:pt x="172731" y="617084"/>
                </a:lnTo>
                <a:lnTo>
                  <a:pt x="160686" y="615112"/>
                </a:lnTo>
                <a:lnTo>
                  <a:pt x="148498" y="613943"/>
                </a:lnTo>
                <a:lnTo>
                  <a:pt x="139191" y="614222"/>
                </a:lnTo>
                <a:lnTo>
                  <a:pt x="128135" y="612387"/>
                </a:lnTo>
                <a:lnTo>
                  <a:pt x="113411" y="613243"/>
                </a:lnTo>
                <a:lnTo>
                  <a:pt x="98686" y="614609"/>
                </a:lnTo>
                <a:lnTo>
                  <a:pt x="87629" y="614304"/>
                </a:lnTo>
                <a:lnTo>
                  <a:pt x="32069" y="634782"/>
                </a:lnTo>
                <a:lnTo>
                  <a:pt x="6096" y="644772"/>
                </a:lnTo>
                <a:lnTo>
                  <a:pt x="0" y="647700"/>
                </a:lnTo>
                <a:lnTo>
                  <a:pt x="6810375" y="647700"/>
                </a:lnTo>
                <a:lnTo>
                  <a:pt x="6810375" y="18859"/>
                </a:lnTo>
                <a:lnTo>
                  <a:pt x="6752859" y="13357"/>
                </a:lnTo>
                <a:lnTo>
                  <a:pt x="6737731" y="12293"/>
                </a:lnTo>
                <a:lnTo>
                  <a:pt x="6719718" y="11698"/>
                </a:lnTo>
                <a:lnTo>
                  <a:pt x="6703837" y="10406"/>
                </a:lnTo>
                <a:lnTo>
                  <a:pt x="6688171" y="9873"/>
                </a:lnTo>
                <a:lnTo>
                  <a:pt x="6670802" y="11556"/>
                </a:lnTo>
                <a:lnTo>
                  <a:pt x="6652992" y="11429"/>
                </a:lnTo>
                <a:lnTo>
                  <a:pt x="6636242" y="11028"/>
                </a:lnTo>
                <a:lnTo>
                  <a:pt x="6620134" y="10958"/>
                </a:lnTo>
                <a:lnTo>
                  <a:pt x="6604254" y="11823"/>
                </a:lnTo>
                <a:lnTo>
                  <a:pt x="6596253" y="10096"/>
                </a:lnTo>
                <a:lnTo>
                  <a:pt x="6588379" y="9474"/>
                </a:lnTo>
                <a:lnTo>
                  <a:pt x="6579997" y="12407"/>
                </a:lnTo>
                <a:lnTo>
                  <a:pt x="6565900" y="11533"/>
                </a:lnTo>
                <a:lnTo>
                  <a:pt x="6555898" y="10394"/>
                </a:lnTo>
                <a:lnTo>
                  <a:pt x="6547278" y="9989"/>
                </a:lnTo>
                <a:lnTo>
                  <a:pt x="6537325" y="11315"/>
                </a:lnTo>
                <a:lnTo>
                  <a:pt x="6528815" y="7628"/>
                </a:lnTo>
                <a:lnTo>
                  <a:pt x="6523545" y="7710"/>
                </a:lnTo>
                <a:lnTo>
                  <a:pt x="6518179" y="9499"/>
                </a:lnTo>
                <a:lnTo>
                  <a:pt x="6509384" y="10934"/>
                </a:lnTo>
                <a:lnTo>
                  <a:pt x="6505009" y="12197"/>
                </a:lnTo>
                <a:lnTo>
                  <a:pt x="6506765" y="13808"/>
                </a:lnTo>
                <a:lnTo>
                  <a:pt x="6508688" y="15213"/>
                </a:lnTo>
                <a:lnTo>
                  <a:pt x="6504813" y="15862"/>
                </a:lnTo>
                <a:lnTo>
                  <a:pt x="6492406" y="13953"/>
                </a:lnTo>
                <a:lnTo>
                  <a:pt x="6462879" y="4776"/>
                </a:lnTo>
                <a:lnTo>
                  <a:pt x="6449186" y="2374"/>
                </a:lnTo>
                <a:lnTo>
                  <a:pt x="6441783" y="3223"/>
                </a:lnTo>
                <a:lnTo>
                  <a:pt x="6433010" y="2916"/>
                </a:lnTo>
                <a:lnTo>
                  <a:pt x="6424737" y="1744"/>
                </a:lnTo>
                <a:lnTo>
                  <a:pt x="6418833" y="0"/>
                </a:lnTo>
                <a:close/>
              </a:path>
            </a:pathLst>
          </a:custGeom>
          <a:solidFill>
            <a:srgbClr val="82766A">
              <a:alpha val="14901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5095875" y="209613"/>
            <a:ext cx="7096125" cy="6257925"/>
            <a:chOff x="5095875" y="209613"/>
            <a:chExt cx="7096125" cy="6257925"/>
          </a:xfrm>
        </p:grpSpPr>
        <p:pic>
          <p:nvPicPr>
            <p:cNvPr id="10" name="object 10" descr="Flow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39275" y="209613"/>
              <a:ext cx="2752725" cy="623608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95875" y="3971924"/>
              <a:ext cx="4476750" cy="24955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0247" y="777493"/>
            <a:ext cx="3232150" cy="758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800" spc="-175">
                <a:latin typeface="Trebuchet MS"/>
                <a:cs typeface="Trebuchet MS"/>
              </a:rPr>
              <a:t>Methodology</a:t>
            </a:r>
            <a:endParaRPr sz="4800">
              <a:latin typeface="Trebuchet MS"/>
              <a:cs typeface="Trebuchet MS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305038" y="435927"/>
            <a:ext cx="78740" cy="1595120"/>
            <a:chOff x="4305038" y="435927"/>
            <a:chExt cx="78740" cy="1595120"/>
          </a:xfrm>
        </p:grpSpPr>
        <p:sp>
          <p:nvSpPr>
            <p:cNvPr id="4" name="object 4"/>
            <p:cNvSpPr/>
            <p:nvPr/>
          </p:nvSpPr>
          <p:spPr>
            <a:xfrm>
              <a:off x="4326741" y="456565"/>
              <a:ext cx="43815" cy="1554480"/>
            </a:xfrm>
            <a:custGeom>
              <a:avLst/>
              <a:gdLst/>
              <a:ahLst/>
              <a:cxnLst/>
              <a:rect l="l" t="t" r="r" b="b"/>
              <a:pathLst>
                <a:path w="43814" h="1554480">
                  <a:moveTo>
                    <a:pt x="16277" y="0"/>
                  </a:moveTo>
                  <a:lnTo>
                    <a:pt x="7133" y="635"/>
                  </a:lnTo>
                  <a:lnTo>
                    <a:pt x="12424" y="79658"/>
                  </a:lnTo>
                  <a:lnTo>
                    <a:pt x="14550" y="120149"/>
                  </a:lnTo>
                  <a:lnTo>
                    <a:pt x="16149" y="162668"/>
                  </a:lnTo>
                  <a:lnTo>
                    <a:pt x="17086" y="208248"/>
                  </a:lnTo>
                  <a:lnTo>
                    <a:pt x="17228" y="257919"/>
                  </a:lnTo>
                  <a:lnTo>
                    <a:pt x="16438" y="312714"/>
                  </a:lnTo>
                  <a:lnTo>
                    <a:pt x="14582" y="373665"/>
                  </a:lnTo>
                  <a:lnTo>
                    <a:pt x="11525" y="441803"/>
                  </a:lnTo>
                  <a:lnTo>
                    <a:pt x="3331" y="586187"/>
                  </a:lnTo>
                  <a:lnTo>
                    <a:pt x="1043" y="644658"/>
                  </a:lnTo>
                  <a:lnTo>
                    <a:pt x="16" y="695548"/>
                  </a:lnTo>
                  <a:lnTo>
                    <a:pt x="0" y="740830"/>
                  </a:lnTo>
                  <a:lnTo>
                    <a:pt x="744" y="782480"/>
                  </a:lnTo>
                  <a:lnTo>
                    <a:pt x="1998" y="822472"/>
                  </a:lnTo>
                  <a:lnTo>
                    <a:pt x="5031" y="905381"/>
                  </a:lnTo>
                  <a:lnTo>
                    <a:pt x="6308" y="952246"/>
                  </a:lnTo>
                  <a:lnTo>
                    <a:pt x="7093" y="1005352"/>
                  </a:lnTo>
                  <a:lnTo>
                    <a:pt x="6934" y="1133318"/>
                  </a:lnTo>
                  <a:lnTo>
                    <a:pt x="7157" y="1189425"/>
                  </a:lnTo>
                  <a:lnTo>
                    <a:pt x="7661" y="1237445"/>
                  </a:lnTo>
                  <a:lnTo>
                    <a:pt x="9437" y="1357516"/>
                  </a:lnTo>
                  <a:lnTo>
                    <a:pt x="9645" y="1397719"/>
                  </a:lnTo>
                  <a:lnTo>
                    <a:pt x="9425" y="1442101"/>
                  </a:lnTo>
                  <a:lnTo>
                    <a:pt x="8635" y="1493113"/>
                  </a:lnTo>
                  <a:lnTo>
                    <a:pt x="7133" y="1553210"/>
                  </a:lnTo>
                  <a:lnTo>
                    <a:pt x="12340" y="1554099"/>
                  </a:lnTo>
                  <a:lnTo>
                    <a:pt x="26183" y="1553210"/>
                  </a:lnTo>
                  <a:lnTo>
                    <a:pt x="24216" y="1479001"/>
                  </a:lnTo>
                  <a:lnTo>
                    <a:pt x="16333" y="1241217"/>
                  </a:lnTo>
                  <a:lnTo>
                    <a:pt x="15345" y="1192528"/>
                  </a:lnTo>
                  <a:lnTo>
                    <a:pt x="15146" y="1146540"/>
                  </a:lnTo>
                  <a:lnTo>
                    <a:pt x="15933" y="1102453"/>
                  </a:lnTo>
                  <a:lnTo>
                    <a:pt x="17903" y="1059464"/>
                  </a:lnTo>
                  <a:lnTo>
                    <a:pt x="21254" y="1016774"/>
                  </a:lnTo>
                  <a:lnTo>
                    <a:pt x="32572" y="919669"/>
                  </a:lnTo>
                  <a:lnTo>
                    <a:pt x="37546" y="865085"/>
                  </a:lnTo>
                  <a:lnTo>
                    <a:pt x="41028" y="810288"/>
                  </a:lnTo>
                  <a:lnTo>
                    <a:pt x="42939" y="755735"/>
                  </a:lnTo>
                  <a:lnTo>
                    <a:pt x="43200" y="701885"/>
                  </a:lnTo>
                  <a:lnTo>
                    <a:pt x="41733" y="649195"/>
                  </a:lnTo>
                  <a:lnTo>
                    <a:pt x="38461" y="598124"/>
                  </a:lnTo>
                  <a:lnTo>
                    <a:pt x="33303" y="549128"/>
                  </a:lnTo>
                  <a:lnTo>
                    <a:pt x="20258" y="462514"/>
                  </a:lnTo>
                  <a:lnTo>
                    <a:pt x="16819" y="422535"/>
                  </a:lnTo>
                  <a:lnTo>
                    <a:pt x="15430" y="381825"/>
                  </a:lnTo>
                  <a:lnTo>
                    <a:pt x="15649" y="339484"/>
                  </a:lnTo>
                  <a:lnTo>
                    <a:pt x="17039" y="294608"/>
                  </a:lnTo>
                  <a:lnTo>
                    <a:pt x="21574" y="193644"/>
                  </a:lnTo>
                  <a:lnTo>
                    <a:pt x="23842" y="135751"/>
                  </a:lnTo>
                  <a:lnTo>
                    <a:pt x="25525" y="71716"/>
                  </a:lnTo>
                  <a:lnTo>
                    <a:pt x="26183" y="635"/>
                  </a:lnTo>
                  <a:lnTo>
                    <a:pt x="16277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4325675" y="456565"/>
              <a:ext cx="37465" cy="1553845"/>
            </a:xfrm>
            <a:custGeom>
              <a:avLst/>
              <a:gdLst/>
              <a:ahLst/>
              <a:cxnLst/>
              <a:rect l="l" t="t" r="r" b="b"/>
              <a:pathLst>
                <a:path w="37464" h="1553845">
                  <a:moveTo>
                    <a:pt x="27249" y="635"/>
                  </a:moveTo>
                  <a:lnTo>
                    <a:pt x="31955" y="34521"/>
                  </a:lnTo>
                  <a:lnTo>
                    <a:pt x="34952" y="73542"/>
                  </a:lnTo>
                  <a:lnTo>
                    <a:pt x="36496" y="117051"/>
                  </a:lnTo>
                  <a:lnTo>
                    <a:pt x="36843" y="164403"/>
                  </a:lnTo>
                  <a:lnTo>
                    <a:pt x="36249" y="214950"/>
                  </a:lnTo>
                  <a:lnTo>
                    <a:pt x="34969" y="268047"/>
                  </a:lnTo>
                  <a:lnTo>
                    <a:pt x="33260" y="323046"/>
                  </a:lnTo>
                  <a:lnTo>
                    <a:pt x="31378" y="379303"/>
                  </a:lnTo>
                  <a:lnTo>
                    <a:pt x="29578" y="436169"/>
                  </a:lnTo>
                  <a:lnTo>
                    <a:pt x="28116" y="492999"/>
                  </a:lnTo>
                  <a:lnTo>
                    <a:pt x="27249" y="549148"/>
                  </a:lnTo>
                  <a:lnTo>
                    <a:pt x="26983" y="602567"/>
                  </a:lnTo>
                  <a:lnTo>
                    <a:pt x="27084" y="652197"/>
                  </a:lnTo>
                  <a:lnTo>
                    <a:pt x="27448" y="698971"/>
                  </a:lnTo>
                  <a:lnTo>
                    <a:pt x="27970" y="743820"/>
                  </a:lnTo>
                  <a:lnTo>
                    <a:pt x="28546" y="787679"/>
                  </a:lnTo>
                  <a:lnTo>
                    <a:pt x="29069" y="831481"/>
                  </a:lnTo>
                  <a:lnTo>
                    <a:pt x="29437" y="876159"/>
                  </a:lnTo>
                  <a:lnTo>
                    <a:pt x="29543" y="922646"/>
                  </a:lnTo>
                  <a:lnTo>
                    <a:pt x="29284" y="971875"/>
                  </a:lnTo>
                  <a:lnTo>
                    <a:pt x="28554" y="1024780"/>
                  </a:lnTo>
                  <a:lnTo>
                    <a:pt x="27249" y="1082294"/>
                  </a:lnTo>
                  <a:lnTo>
                    <a:pt x="25522" y="1150196"/>
                  </a:lnTo>
                  <a:lnTo>
                    <a:pt x="24300" y="1208607"/>
                  </a:lnTo>
                  <a:lnTo>
                    <a:pt x="23552" y="1259924"/>
                  </a:lnTo>
                  <a:lnTo>
                    <a:pt x="23245" y="1306547"/>
                  </a:lnTo>
                  <a:lnTo>
                    <a:pt x="23350" y="1350875"/>
                  </a:lnTo>
                  <a:lnTo>
                    <a:pt x="23834" y="1395306"/>
                  </a:lnTo>
                  <a:lnTo>
                    <a:pt x="24666" y="1442240"/>
                  </a:lnTo>
                  <a:lnTo>
                    <a:pt x="25815" y="1494075"/>
                  </a:lnTo>
                  <a:lnTo>
                    <a:pt x="27249" y="1553210"/>
                  </a:lnTo>
                  <a:lnTo>
                    <a:pt x="19756" y="1553718"/>
                  </a:lnTo>
                  <a:lnTo>
                    <a:pt x="13025" y="1552702"/>
                  </a:lnTo>
                  <a:lnTo>
                    <a:pt x="8199" y="1553210"/>
                  </a:lnTo>
                  <a:lnTo>
                    <a:pt x="10736" y="1491231"/>
                  </a:lnTo>
                  <a:lnTo>
                    <a:pt x="11125" y="1434066"/>
                  </a:lnTo>
                  <a:lnTo>
                    <a:pt x="9959" y="1381021"/>
                  </a:lnTo>
                  <a:lnTo>
                    <a:pt x="7833" y="1331400"/>
                  </a:lnTo>
                  <a:lnTo>
                    <a:pt x="5341" y="1284509"/>
                  </a:lnTo>
                  <a:lnTo>
                    <a:pt x="3078" y="1239653"/>
                  </a:lnTo>
                  <a:lnTo>
                    <a:pt x="1638" y="1196136"/>
                  </a:lnTo>
                  <a:lnTo>
                    <a:pt x="1615" y="1153263"/>
                  </a:lnTo>
                  <a:lnTo>
                    <a:pt x="3604" y="1110340"/>
                  </a:lnTo>
                  <a:lnTo>
                    <a:pt x="8199" y="1066673"/>
                  </a:lnTo>
                  <a:lnTo>
                    <a:pt x="13565" y="1023128"/>
                  </a:lnTo>
                  <a:lnTo>
                    <a:pt x="17526" y="980322"/>
                  </a:lnTo>
                  <a:lnTo>
                    <a:pt x="20160" y="937293"/>
                  </a:lnTo>
                  <a:lnTo>
                    <a:pt x="21549" y="893081"/>
                  </a:lnTo>
                  <a:lnTo>
                    <a:pt x="21772" y="846724"/>
                  </a:lnTo>
                  <a:lnTo>
                    <a:pt x="20909" y="797263"/>
                  </a:lnTo>
                  <a:lnTo>
                    <a:pt x="19040" y="743735"/>
                  </a:lnTo>
                  <a:lnTo>
                    <a:pt x="16246" y="685181"/>
                  </a:lnTo>
                  <a:lnTo>
                    <a:pt x="12605" y="620638"/>
                  </a:lnTo>
                  <a:lnTo>
                    <a:pt x="8199" y="549148"/>
                  </a:lnTo>
                  <a:lnTo>
                    <a:pt x="4515" y="483413"/>
                  </a:lnTo>
                  <a:lnTo>
                    <a:pt x="2021" y="422628"/>
                  </a:lnTo>
                  <a:lnTo>
                    <a:pt x="566" y="366201"/>
                  </a:lnTo>
                  <a:lnTo>
                    <a:pt x="0" y="313540"/>
                  </a:lnTo>
                  <a:lnTo>
                    <a:pt x="170" y="264053"/>
                  </a:lnTo>
                  <a:lnTo>
                    <a:pt x="925" y="217149"/>
                  </a:lnTo>
                  <a:lnTo>
                    <a:pt x="2115" y="172234"/>
                  </a:lnTo>
                  <a:lnTo>
                    <a:pt x="3589" y="128717"/>
                  </a:lnTo>
                  <a:lnTo>
                    <a:pt x="5195" y="86006"/>
                  </a:lnTo>
                  <a:lnTo>
                    <a:pt x="6782" y="43509"/>
                  </a:lnTo>
                  <a:lnTo>
                    <a:pt x="8199" y="635"/>
                  </a:lnTo>
                  <a:lnTo>
                    <a:pt x="13406" y="0"/>
                  </a:lnTo>
                  <a:lnTo>
                    <a:pt x="22423" y="1397"/>
                  </a:lnTo>
                  <a:lnTo>
                    <a:pt x="27249" y="635"/>
                  </a:lnTo>
                  <a:close/>
                </a:path>
              </a:pathLst>
            </a:custGeom>
            <a:ln w="41275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657978" y="356298"/>
            <a:ext cx="3601085" cy="78867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9100"/>
              </a:lnSpc>
              <a:spcBef>
                <a:spcPts val="100"/>
              </a:spcBef>
            </a:pPr>
            <a:r>
              <a:rPr dirty="0" sz="1800">
                <a:latin typeface="Times New Roman"/>
                <a:cs typeface="Times New Roman"/>
              </a:rPr>
              <a:t>Isolation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Forest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-</a:t>
            </a:r>
            <a:r>
              <a:rPr dirty="0" sz="1800" spc="-1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Anomaly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Detection </a:t>
            </a:r>
            <a:r>
              <a:rPr dirty="0" sz="1800">
                <a:latin typeface="Times New Roman"/>
                <a:cs typeface="Times New Roman"/>
              </a:rPr>
              <a:t>Why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this</a:t>
            </a:r>
            <a:r>
              <a:rPr dirty="0" sz="1800" spc="2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method?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57978" y="1119949"/>
            <a:ext cx="6337300" cy="2390775"/>
          </a:xfrm>
          <a:prstGeom prst="rect">
            <a:avLst/>
          </a:prstGeom>
        </p:spPr>
        <p:txBody>
          <a:bodyPr wrap="square" lIns="0" tIns="109855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No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labelled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abnormal events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were </a:t>
            </a:r>
            <a:r>
              <a:rPr dirty="0" sz="1800" spc="-10">
                <a:latin typeface="Times New Roman"/>
                <a:cs typeface="Times New Roman"/>
              </a:rPr>
              <a:t>available.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Isolation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Forest is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unsupervised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anomaly-detection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algorithm.</a:t>
            </a:r>
            <a:endParaRPr sz="18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It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identify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unusual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combinations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multiple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process</a:t>
            </a:r>
            <a:r>
              <a:rPr dirty="0" sz="1800" spc="2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variables.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800" b="1">
                <a:latin typeface="Times New Roman"/>
                <a:cs typeface="Times New Roman"/>
              </a:rPr>
              <a:t>How</a:t>
            </a:r>
            <a:r>
              <a:rPr dirty="0" sz="1800" spc="-40" b="1">
                <a:latin typeface="Times New Roman"/>
                <a:cs typeface="Times New Roman"/>
              </a:rPr>
              <a:t> </a:t>
            </a:r>
            <a:r>
              <a:rPr dirty="0" sz="1800" b="1">
                <a:latin typeface="Times New Roman"/>
                <a:cs typeface="Times New Roman"/>
              </a:rPr>
              <a:t>It</a:t>
            </a:r>
            <a:r>
              <a:rPr dirty="0" sz="1800" spc="-5" b="1">
                <a:latin typeface="Times New Roman"/>
                <a:cs typeface="Times New Roman"/>
              </a:rPr>
              <a:t> </a:t>
            </a:r>
            <a:r>
              <a:rPr dirty="0" sz="1800" spc="-20" b="1">
                <a:latin typeface="Times New Roman"/>
                <a:cs typeface="Times New Roman"/>
              </a:rPr>
              <a:t>Works</a:t>
            </a:r>
            <a:endParaRPr sz="1800">
              <a:latin typeface="Times New Roman"/>
              <a:cs typeface="Times New Roman"/>
            </a:endParaRPr>
          </a:p>
          <a:p>
            <a:pPr marL="241300" marR="30480" indent="-229235">
              <a:lnSpc>
                <a:spcPts val="195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Times New Roman"/>
                <a:cs typeface="Times New Roman"/>
              </a:rPr>
              <a:t>Isolation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Forest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randomly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splits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feature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space.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Unusual </a:t>
            </a:r>
            <a:r>
              <a:rPr dirty="0" sz="1800">
                <a:latin typeface="Times New Roman"/>
                <a:cs typeface="Times New Roman"/>
              </a:rPr>
              <a:t>observations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easier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to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isolate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therefore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require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fewer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splits </a:t>
            </a:r>
            <a:r>
              <a:rPr dirty="0" sz="1800">
                <a:latin typeface="Times New Roman"/>
                <a:cs typeface="Times New Roman"/>
              </a:rPr>
              <a:t>than normal</a:t>
            </a:r>
            <a:r>
              <a:rPr dirty="0" sz="1800" spc="-5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observations.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575" y="3581400"/>
            <a:ext cx="1025842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7575" y="258699"/>
            <a:ext cx="7874000" cy="63246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 spc="-135"/>
              <a:t>Anomaly</a:t>
            </a:r>
            <a:r>
              <a:rPr dirty="0" sz="3950" spc="-335"/>
              <a:t> </a:t>
            </a:r>
            <a:r>
              <a:rPr dirty="0" sz="3950" spc="-160"/>
              <a:t>Detection</a:t>
            </a:r>
            <a:r>
              <a:rPr dirty="0" sz="3950" spc="-415"/>
              <a:t> </a:t>
            </a:r>
            <a:r>
              <a:rPr dirty="0" sz="3950" spc="-140"/>
              <a:t>and</a:t>
            </a:r>
            <a:r>
              <a:rPr dirty="0" sz="3950" spc="-380"/>
              <a:t> </a:t>
            </a:r>
            <a:r>
              <a:rPr dirty="0" sz="3950" spc="-210"/>
              <a:t>Key</a:t>
            </a:r>
            <a:r>
              <a:rPr dirty="0" sz="3950" spc="-330"/>
              <a:t> </a:t>
            </a:r>
            <a:r>
              <a:rPr dirty="0" sz="3950" spc="-95"/>
              <a:t>Findings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782955" y="968438"/>
            <a:ext cx="4505960" cy="3659504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2000" b="1">
                <a:latin typeface="Times New Roman"/>
                <a:cs typeface="Times New Roman"/>
              </a:rPr>
              <a:t>Abnormal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Period</a:t>
            </a:r>
            <a:r>
              <a:rPr dirty="0" sz="2000" spc="-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Detection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Results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dirty="0" sz="2000">
                <a:latin typeface="Times New Roman"/>
                <a:cs typeface="Times New Roman"/>
              </a:rPr>
              <a:t>Detection</a:t>
            </a:r>
            <a:r>
              <a:rPr dirty="0" sz="2000" spc="-7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Results:-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ts val="2290"/>
              </a:lnSpc>
              <a:spcBef>
                <a:spcPts val="75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imes New Roman"/>
                <a:cs typeface="Times New Roman"/>
              </a:rPr>
              <a:t>3,748</a:t>
            </a:r>
            <a:r>
              <a:rPr dirty="0" sz="2000" spc="-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observations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identified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above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</a:t>
            </a:r>
            <a:endParaRPr sz="2000">
              <a:latin typeface="Times New Roman"/>
              <a:cs typeface="Times New Roman"/>
            </a:endParaRPr>
          </a:p>
          <a:p>
            <a:pPr marL="241300">
              <a:lnSpc>
                <a:spcPts val="2290"/>
              </a:lnSpc>
            </a:pPr>
            <a:r>
              <a:rPr dirty="0" sz="2000">
                <a:latin typeface="Times New Roman"/>
                <a:cs typeface="Times New Roman"/>
              </a:rPr>
              <a:t>anomaly</a:t>
            </a:r>
            <a:r>
              <a:rPr dirty="0" sz="2000" spc="-9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threshold</a:t>
            </a:r>
            <a:endParaRPr sz="2000">
              <a:latin typeface="Times New Roman"/>
              <a:cs typeface="Times New Roman"/>
            </a:endParaRPr>
          </a:p>
          <a:p>
            <a:pPr marL="239395" indent="-22669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imes New Roman"/>
                <a:cs typeface="Times New Roman"/>
              </a:rPr>
              <a:t>252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sustained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abnormal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periods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identified</a:t>
            </a:r>
            <a:endParaRPr sz="2000">
              <a:latin typeface="Times New Roman"/>
              <a:cs typeface="Times New Roman"/>
            </a:endParaRPr>
          </a:p>
          <a:p>
            <a:pPr marL="238760" marR="533400" indent="-226695">
              <a:lnSpc>
                <a:spcPts val="218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Times New Roman"/>
                <a:cs typeface="Times New Roman"/>
              </a:rPr>
              <a:t>Minimum</a:t>
            </a:r>
            <a:r>
              <a:rPr dirty="0" sz="2000" spc="-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persistence: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6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consecutive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observations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(30</a:t>
            </a:r>
            <a:r>
              <a:rPr dirty="0" sz="2000" spc="-6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minutes)</a:t>
            </a:r>
            <a:endParaRPr sz="2000">
              <a:latin typeface="Times New Roman"/>
              <a:cs typeface="Times New Roman"/>
            </a:endParaRPr>
          </a:p>
          <a:p>
            <a:pPr marL="238760" marR="109855" indent="-226695">
              <a:lnSpc>
                <a:spcPts val="218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20">
                <a:latin typeface="Times New Roman"/>
                <a:cs typeface="Times New Roman"/>
              </a:rPr>
              <a:t>Total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detected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abnormal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duration: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8</a:t>
            </a:r>
            <a:r>
              <a:rPr dirty="0" sz="2000" spc="-5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days </a:t>
            </a:r>
            <a:r>
              <a:rPr dirty="0" sz="2000" spc="-2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3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hours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55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minutes.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2000" spc="-75" b="1">
                <a:latin typeface="Times New Roman"/>
                <a:cs typeface="Times New Roman"/>
              </a:rPr>
              <a:t>Year-</a:t>
            </a:r>
            <a:r>
              <a:rPr dirty="0" sz="2000" b="1">
                <a:latin typeface="Times New Roman"/>
                <a:cs typeface="Times New Roman"/>
              </a:rPr>
              <a:t>wise</a:t>
            </a:r>
            <a:r>
              <a:rPr dirty="0" sz="2000" spc="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Distribution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9439" y="1192212"/>
            <a:ext cx="5256530" cy="1683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40" b="1">
                <a:latin typeface="Tahoma"/>
                <a:cs typeface="Tahoma"/>
              </a:rPr>
              <a:t>Key</a:t>
            </a:r>
            <a:r>
              <a:rPr dirty="0" sz="1800" spc="-200" b="1">
                <a:latin typeface="Tahoma"/>
                <a:cs typeface="Tahoma"/>
              </a:rPr>
              <a:t> </a:t>
            </a:r>
            <a:r>
              <a:rPr dirty="0" sz="1800" spc="-10" b="1">
                <a:latin typeface="Tahoma"/>
                <a:cs typeface="Tahoma"/>
              </a:rPr>
              <a:t>Findings</a:t>
            </a:r>
            <a:endParaRPr sz="1800">
              <a:latin typeface="Tahoma"/>
              <a:cs typeface="Tahoma"/>
            </a:endParaRPr>
          </a:p>
          <a:p>
            <a:pPr marL="91440" indent="-88900">
              <a:lnSpc>
                <a:spcPct val="100000"/>
              </a:lnSpc>
              <a:spcBef>
                <a:spcPts val="95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Times New Roman"/>
                <a:cs typeface="Times New Roman"/>
              </a:rPr>
              <a:t>Abnormal</a:t>
            </a:r>
            <a:r>
              <a:rPr dirty="0" sz="1800" spc="-7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periods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were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detected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throughout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dataset.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ct val="100000"/>
              </a:lnSpc>
              <a:spcBef>
                <a:spcPts val="20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Times New Roman"/>
                <a:cs typeface="Times New Roman"/>
              </a:rPr>
              <a:t>2018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recorded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highest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number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abnormal</a:t>
            </a:r>
            <a:r>
              <a:rPr dirty="0" sz="1800" spc="1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periods.</a:t>
            </a:r>
            <a:endParaRPr sz="1800">
              <a:latin typeface="Times New Roman"/>
              <a:cs typeface="Times New Roman"/>
            </a:endParaRPr>
          </a:p>
          <a:p>
            <a:pPr marL="91440" indent="-88900">
              <a:lnSpc>
                <a:spcPts val="2130"/>
              </a:lnSpc>
              <a:spcBef>
                <a:spcPts val="15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Times New Roman"/>
                <a:cs typeface="Times New Roman"/>
              </a:rPr>
              <a:t>The</a:t>
            </a:r>
            <a:r>
              <a:rPr dirty="0" sz="1800" spc="-7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strongest</a:t>
            </a:r>
            <a:r>
              <a:rPr dirty="0" sz="1800" spc="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detected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anomaly</a:t>
            </a:r>
            <a:r>
              <a:rPr dirty="0" sz="1800" spc="-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had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score</a:t>
            </a:r>
            <a:r>
              <a:rPr dirty="0" sz="1800" spc="1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of</a:t>
            </a:r>
            <a:r>
              <a:rPr dirty="0" sz="1800" spc="-10">
                <a:latin typeface="Times New Roman"/>
                <a:cs typeface="Times New Roman"/>
              </a:rPr>
              <a:t> 0.7406.</a:t>
            </a:r>
            <a:endParaRPr sz="1800">
              <a:latin typeface="Times New Roman"/>
              <a:cs typeface="Times New Roman"/>
            </a:endParaRPr>
          </a:p>
          <a:p>
            <a:pPr marL="12700" marR="5080" indent="-10160">
              <a:lnSpc>
                <a:spcPts val="2180"/>
              </a:lnSpc>
              <a:spcBef>
                <a:spcPts val="30"/>
              </a:spcBef>
              <a:buSzPct val="94444"/>
              <a:buChar char="•"/>
              <a:tabLst>
                <a:tab pos="91440" algn="l"/>
              </a:tabLst>
            </a:pPr>
            <a:r>
              <a:rPr dirty="0" sz="1800">
                <a:latin typeface="Times New Roman"/>
                <a:cs typeface="Times New Roman"/>
              </a:rPr>
              <a:t>	</a:t>
            </a:r>
            <a:r>
              <a:rPr dirty="0" sz="1800">
                <a:latin typeface="Times New Roman"/>
                <a:cs typeface="Times New Roman"/>
              </a:rPr>
              <a:t>Detected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periods</a:t>
            </a:r>
            <a:r>
              <a:rPr dirty="0" sz="1800" spc="-6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represent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unusual</a:t>
            </a:r>
            <a:r>
              <a:rPr dirty="0" sz="1800" spc="-1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operating</a:t>
            </a:r>
            <a:r>
              <a:rPr dirty="0" sz="1800" spc="30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behaviour, </a:t>
            </a:r>
            <a:r>
              <a:rPr dirty="0" sz="1800">
                <a:latin typeface="Times New Roman"/>
                <a:cs typeface="Times New Roman"/>
              </a:rPr>
              <a:t>not</a:t>
            </a:r>
            <a:r>
              <a:rPr dirty="0" sz="1800" spc="-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confirmed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equipment </a:t>
            </a:r>
            <a:r>
              <a:rPr dirty="0" sz="1800" spc="-10">
                <a:latin typeface="Times New Roman"/>
                <a:cs typeface="Times New Roman"/>
              </a:rPr>
              <a:t>failure.</a:t>
            </a:r>
            <a:endParaRPr sz="18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97065" y="4632833"/>
          <a:ext cx="5789930" cy="2103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0555"/>
                <a:gridCol w="1900555"/>
                <a:gridCol w="1900555"/>
              </a:tblGrid>
              <a:tr h="6400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dirty="0" sz="1800" spc="-20" b="1">
                          <a:latin typeface="Tahoma"/>
                          <a:cs typeface="Tahoma"/>
                        </a:rPr>
                        <a:t>Year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170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marL="1023619" marR="81280" indent="-233045">
                        <a:lnSpc>
                          <a:spcPct val="100800"/>
                        </a:lnSpc>
                        <a:spcBef>
                          <a:spcPts val="245"/>
                        </a:spcBef>
                      </a:pPr>
                      <a:r>
                        <a:rPr dirty="0" sz="1800" spc="-100" b="1">
                          <a:latin typeface="Tahoma"/>
                          <a:cs typeface="Tahoma"/>
                        </a:rPr>
                        <a:t>Abnormal </a:t>
                      </a:r>
                      <a:r>
                        <a:rPr dirty="0" sz="1800" spc="-90" b="1">
                          <a:latin typeface="Tahoma"/>
                          <a:cs typeface="Tahoma"/>
                        </a:rPr>
                        <a:t>Periods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ct val="100000"/>
                        </a:lnSpc>
                        <a:spcBef>
                          <a:spcPts val="1345"/>
                        </a:spcBef>
                      </a:pPr>
                      <a:r>
                        <a:rPr dirty="0" sz="1800" spc="-135" b="1">
                          <a:latin typeface="Tahoma"/>
                          <a:cs typeface="Tahoma"/>
                        </a:rPr>
                        <a:t>Total</a:t>
                      </a:r>
                      <a:r>
                        <a:rPr dirty="0" sz="1800" spc="-12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10" b="1">
                          <a:latin typeface="Tahoma"/>
                          <a:cs typeface="Tahoma"/>
                        </a:rPr>
                        <a:t>Duration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1708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 spc="-20" b="1">
                          <a:latin typeface="Tahoma"/>
                          <a:cs typeface="Tahoma"/>
                        </a:rPr>
                        <a:t>2017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87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 spc="-25" b="1">
                          <a:latin typeface="Tahoma"/>
                          <a:cs typeface="Tahoma"/>
                        </a:rPr>
                        <a:t>80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 spc="-145" b="1">
                          <a:latin typeface="Tahoma"/>
                          <a:cs typeface="Tahoma"/>
                        </a:rPr>
                        <a:t>2d</a:t>
                      </a:r>
                      <a:r>
                        <a:rPr dirty="0" sz="1800" spc="-15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190" b="1">
                          <a:latin typeface="Tahoma"/>
                          <a:cs typeface="Tahoma"/>
                        </a:rPr>
                        <a:t>14h</a:t>
                      </a:r>
                      <a:r>
                        <a:rPr dirty="0" sz="1800" spc="-1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25" b="1">
                          <a:latin typeface="Tahoma"/>
                          <a:cs typeface="Tahoma"/>
                        </a:rPr>
                        <a:t>30m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 spc="-20" b="1">
                          <a:latin typeface="Tahoma"/>
                          <a:cs typeface="Tahoma"/>
                        </a:rPr>
                        <a:t>2018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 spc="-25" b="1">
                          <a:latin typeface="Tahoma"/>
                          <a:cs typeface="Tahoma"/>
                        </a:rPr>
                        <a:t>102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00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800" spc="-145" b="1">
                          <a:latin typeface="Tahoma"/>
                          <a:cs typeface="Tahoma"/>
                        </a:rPr>
                        <a:t>3d </a:t>
                      </a:r>
                      <a:r>
                        <a:rPr dirty="0" sz="1800" spc="-160" b="1">
                          <a:latin typeface="Tahoma"/>
                          <a:cs typeface="Tahoma"/>
                        </a:rPr>
                        <a:t>7h</a:t>
                      </a:r>
                      <a:r>
                        <a:rPr dirty="0" sz="1800" spc="-21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25" b="1">
                          <a:latin typeface="Tahoma"/>
                          <a:cs typeface="Tahoma"/>
                        </a:rPr>
                        <a:t>10m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800" spc="-20" b="1">
                          <a:latin typeface="Tahoma"/>
                          <a:cs typeface="Tahoma"/>
                        </a:rPr>
                        <a:t>2019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87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800" spc="-25" b="1">
                          <a:latin typeface="Tahoma"/>
                          <a:cs typeface="Tahoma"/>
                        </a:rPr>
                        <a:t>49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683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800" spc="-145" b="1">
                          <a:latin typeface="Tahoma"/>
                          <a:cs typeface="Tahoma"/>
                        </a:rPr>
                        <a:t>1d</a:t>
                      </a:r>
                      <a:r>
                        <a:rPr dirty="0" sz="1800" spc="-150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190" b="1">
                          <a:latin typeface="Tahoma"/>
                          <a:cs typeface="Tahoma"/>
                        </a:rPr>
                        <a:t>12h</a:t>
                      </a:r>
                      <a:r>
                        <a:rPr dirty="0" sz="1800" spc="-135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25" b="1">
                          <a:latin typeface="Tahoma"/>
                          <a:cs typeface="Tahoma"/>
                        </a:rPr>
                        <a:t>35m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-20" b="1">
                          <a:latin typeface="Tahoma"/>
                          <a:cs typeface="Tahoma"/>
                        </a:rPr>
                        <a:t>2020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7874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-25" b="1">
                          <a:latin typeface="Tahoma"/>
                          <a:cs typeface="Tahoma"/>
                        </a:rPr>
                        <a:t>21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8128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800" spc="-170" b="1">
                          <a:latin typeface="Tahoma"/>
                          <a:cs typeface="Tahoma"/>
                        </a:rPr>
                        <a:t>17h</a:t>
                      </a:r>
                      <a:r>
                        <a:rPr dirty="0" sz="1800" spc="-204" b="1">
                          <a:latin typeface="Tahoma"/>
                          <a:cs typeface="Tahoma"/>
                        </a:rPr>
                        <a:t> </a:t>
                      </a:r>
                      <a:r>
                        <a:rPr dirty="0" sz="1800" spc="-25" b="1">
                          <a:latin typeface="Tahoma"/>
                          <a:cs typeface="Tahoma"/>
                        </a:rPr>
                        <a:t>40m</a:t>
                      </a:r>
                      <a:endParaRPr sz="1800">
                        <a:latin typeface="Tahoma"/>
                        <a:cs typeface="Tahoma"/>
                      </a:endParaRPr>
                    </a:p>
                  </a:txBody>
                  <a:tcPr marL="0" marR="0" marB="0" marT="3556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</a:tr>
            </a:tbl>
          </a:graphicData>
        </a:graphic>
      </p:graphicFrame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9273" y="3505005"/>
            <a:ext cx="5361393" cy="31046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112" y="265429"/>
            <a:ext cx="11671300" cy="6337300"/>
            <a:chOff x="265112" y="265429"/>
            <a:chExt cx="11671300" cy="6337300"/>
          </a:xfrm>
        </p:grpSpPr>
        <p:sp>
          <p:nvSpPr>
            <p:cNvPr id="3" name="object 3"/>
            <p:cNvSpPr/>
            <p:nvPr/>
          </p:nvSpPr>
          <p:spPr>
            <a:xfrm>
              <a:off x="328612" y="328612"/>
              <a:ext cx="11544300" cy="6210300"/>
            </a:xfrm>
            <a:custGeom>
              <a:avLst/>
              <a:gdLst/>
              <a:ahLst/>
              <a:cxnLst/>
              <a:rect l="l" t="t" r="r" b="b"/>
              <a:pathLst>
                <a:path w="11544300" h="6210300">
                  <a:moveTo>
                    <a:pt x="11544300" y="0"/>
                  </a:moveTo>
                  <a:lnTo>
                    <a:pt x="0" y="0"/>
                  </a:lnTo>
                  <a:lnTo>
                    <a:pt x="0" y="6210300"/>
                  </a:lnTo>
                  <a:lnTo>
                    <a:pt x="11544300" y="6210300"/>
                  </a:lnTo>
                  <a:lnTo>
                    <a:pt x="11544300" y="0"/>
                  </a:lnTo>
                  <a:close/>
                </a:path>
              </a:pathLst>
            </a:custGeom>
            <a:solidFill>
              <a:srgbClr val="000000">
                <a:alpha val="14901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265112" y="265429"/>
              <a:ext cx="11671300" cy="6337300"/>
            </a:xfrm>
            <a:custGeom>
              <a:avLst/>
              <a:gdLst/>
              <a:ahLst/>
              <a:cxnLst/>
              <a:rect l="l" t="t" r="r" b="b"/>
              <a:pathLst>
                <a:path w="11671300" h="6337300">
                  <a:moveTo>
                    <a:pt x="11620437" y="50800"/>
                  </a:moveTo>
                  <a:lnTo>
                    <a:pt x="50800" y="50800"/>
                  </a:lnTo>
                  <a:lnTo>
                    <a:pt x="50800" y="127000"/>
                  </a:lnTo>
                  <a:lnTo>
                    <a:pt x="50800" y="6210300"/>
                  </a:lnTo>
                  <a:lnTo>
                    <a:pt x="50800" y="6286500"/>
                  </a:lnTo>
                  <a:lnTo>
                    <a:pt x="11620437" y="6286500"/>
                  </a:lnTo>
                  <a:lnTo>
                    <a:pt x="11620437" y="6210300"/>
                  </a:lnTo>
                  <a:lnTo>
                    <a:pt x="127000" y="6210300"/>
                  </a:lnTo>
                  <a:lnTo>
                    <a:pt x="127000" y="127000"/>
                  </a:lnTo>
                  <a:lnTo>
                    <a:pt x="11544237" y="127000"/>
                  </a:lnTo>
                  <a:lnTo>
                    <a:pt x="11544237" y="6209982"/>
                  </a:lnTo>
                  <a:lnTo>
                    <a:pt x="11620437" y="6209995"/>
                  </a:lnTo>
                  <a:lnTo>
                    <a:pt x="11620437" y="127000"/>
                  </a:lnTo>
                  <a:lnTo>
                    <a:pt x="11620437" y="126746"/>
                  </a:lnTo>
                  <a:lnTo>
                    <a:pt x="11620437" y="50800"/>
                  </a:lnTo>
                  <a:close/>
                </a:path>
                <a:path w="11671300" h="6337300">
                  <a:moveTo>
                    <a:pt x="11671237" y="0"/>
                  </a:moveTo>
                  <a:lnTo>
                    <a:pt x="0" y="0"/>
                  </a:lnTo>
                  <a:lnTo>
                    <a:pt x="0" y="25400"/>
                  </a:lnTo>
                  <a:lnTo>
                    <a:pt x="0" y="6311900"/>
                  </a:lnTo>
                  <a:lnTo>
                    <a:pt x="0" y="6337300"/>
                  </a:lnTo>
                  <a:lnTo>
                    <a:pt x="11671237" y="6337300"/>
                  </a:lnTo>
                  <a:lnTo>
                    <a:pt x="11671237" y="6311900"/>
                  </a:lnTo>
                  <a:lnTo>
                    <a:pt x="25400" y="6311900"/>
                  </a:lnTo>
                  <a:lnTo>
                    <a:pt x="25400" y="25400"/>
                  </a:lnTo>
                  <a:lnTo>
                    <a:pt x="11645837" y="25400"/>
                  </a:lnTo>
                  <a:lnTo>
                    <a:pt x="11645837" y="6311582"/>
                  </a:lnTo>
                  <a:lnTo>
                    <a:pt x="11671237" y="6311595"/>
                  </a:lnTo>
                  <a:lnTo>
                    <a:pt x="11671237" y="25400"/>
                  </a:lnTo>
                  <a:lnTo>
                    <a:pt x="11671237" y="25146"/>
                  </a:lnTo>
                  <a:lnTo>
                    <a:pt x="11671237" y="0"/>
                  </a:lnTo>
                  <a:close/>
                </a:path>
              </a:pathLst>
            </a:custGeom>
            <a:solidFill>
              <a:srgbClr val="000000">
                <a:alpha val="1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4615" rIns="0" bIns="0" rtlCol="0" vert="horz">
            <a:spAutoFit/>
          </a:bodyPr>
          <a:lstStyle/>
          <a:p>
            <a:pPr marL="3978910" marR="5080" indent="-3963035">
              <a:lnSpc>
                <a:spcPts val="4730"/>
              </a:lnSpc>
              <a:spcBef>
                <a:spcPts val="745"/>
              </a:spcBef>
            </a:pPr>
            <a:r>
              <a:rPr dirty="0" spc="-225"/>
              <a:t>Representative</a:t>
            </a:r>
            <a:r>
              <a:rPr dirty="0" spc="-405"/>
              <a:t> </a:t>
            </a:r>
            <a:r>
              <a:rPr dirty="0" spc="-110"/>
              <a:t>Conclusion</a:t>
            </a:r>
            <a:r>
              <a:rPr dirty="0" spc="-405"/>
              <a:t> </a:t>
            </a:r>
            <a:r>
              <a:rPr dirty="0" spc="-210"/>
              <a:t>of</a:t>
            </a:r>
            <a:r>
              <a:rPr dirty="0" spc="-430"/>
              <a:t> </a:t>
            </a:r>
            <a:r>
              <a:rPr dirty="0" spc="-140"/>
              <a:t>Abnormal </a:t>
            </a:r>
            <a:r>
              <a:rPr dirty="0" spc="-75"/>
              <a:t>Period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239395" indent="-226695">
              <a:lnSpc>
                <a:spcPts val="2250"/>
              </a:lnSpc>
              <a:spcBef>
                <a:spcPts val="12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pc="-120"/>
              <a:t>Strongest</a:t>
            </a:r>
            <a:r>
              <a:rPr dirty="0" spc="-135"/>
              <a:t> </a:t>
            </a:r>
            <a:r>
              <a:rPr dirty="0" spc="-95"/>
              <a:t>Detected</a:t>
            </a:r>
            <a:r>
              <a:rPr dirty="0" spc="-65"/>
              <a:t> </a:t>
            </a:r>
            <a:r>
              <a:rPr dirty="0" spc="-114"/>
              <a:t>Abnormal</a:t>
            </a:r>
            <a:r>
              <a:rPr dirty="0" spc="-160"/>
              <a:t> </a:t>
            </a:r>
            <a:r>
              <a:rPr dirty="0" spc="-75"/>
              <a:t>Period:</a:t>
            </a:r>
          </a:p>
          <a:p>
            <a:pPr marL="239395" indent="-226695">
              <a:lnSpc>
                <a:spcPts val="214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pc="-35" b="0">
                <a:latin typeface="Tahoma"/>
                <a:cs typeface="Tahoma"/>
              </a:rPr>
              <a:t>27</a:t>
            </a:r>
            <a:r>
              <a:rPr dirty="0" spc="-190" b="0">
                <a:latin typeface="Tahoma"/>
                <a:cs typeface="Tahoma"/>
              </a:rPr>
              <a:t> </a:t>
            </a:r>
            <a:r>
              <a:rPr dirty="0" spc="-25" b="0">
                <a:latin typeface="Tahoma"/>
                <a:cs typeface="Tahoma"/>
              </a:rPr>
              <a:t>November</a:t>
            </a:r>
            <a:r>
              <a:rPr dirty="0" spc="-155" b="0">
                <a:latin typeface="Tahoma"/>
                <a:cs typeface="Tahoma"/>
              </a:rPr>
              <a:t> </a:t>
            </a:r>
            <a:r>
              <a:rPr dirty="0" spc="-45" b="0">
                <a:latin typeface="Tahoma"/>
                <a:cs typeface="Tahoma"/>
              </a:rPr>
              <a:t>2018</a:t>
            </a:r>
            <a:r>
              <a:rPr dirty="0" spc="-190" b="0">
                <a:latin typeface="Tahoma"/>
                <a:cs typeface="Tahoma"/>
              </a:rPr>
              <a:t> </a:t>
            </a:r>
            <a:r>
              <a:rPr dirty="0" spc="-229" b="0">
                <a:latin typeface="Tahoma"/>
                <a:cs typeface="Tahoma"/>
              </a:rPr>
              <a:t>|</a:t>
            </a:r>
            <a:r>
              <a:rPr dirty="0" spc="-175" b="0">
                <a:latin typeface="Tahoma"/>
                <a:cs typeface="Tahoma"/>
              </a:rPr>
              <a:t> </a:t>
            </a:r>
            <a:r>
              <a:rPr dirty="0" spc="-60" b="0">
                <a:latin typeface="Tahoma"/>
                <a:cs typeface="Tahoma"/>
              </a:rPr>
              <a:t>05:40</a:t>
            </a:r>
            <a:r>
              <a:rPr dirty="0" spc="-190" b="0">
                <a:latin typeface="Tahoma"/>
                <a:cs typeface="Tahoma"/>
              </a:rPr>
              <a:t> </a:t>
            </a:r>
            <a:r>
              <a:rPr dirty="0" spc="-45" b="0">
                <a:latin typeface="Tahoma"/>
                <a:cs typeface="Tahoma"/>
              </a:rPr>
              <a:t>-</a:t>
            </a:r>
            <a:r>
              <a:rPr dirty="0" spc="-21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06:30</a:t>
            </a:r>
          </a:p>
          <a:p>
            <a:pPr marL="239395" indent="-226695">
              <a:lnSpc>
                <a:spcPts val="2175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pc="-40" b="0">
                <a:latin typeface="Tahoma"/>
                <a:cs typeface="Tahoma"/>
              </a:rPr>
              <a:t>Duration:</a:t>
            </a:r>
            <a:r>
              <a:rPr dirty="0" spc="-195" b="0">
                <a:latin typeface="Tahoma"/>
                <a:cs typeface="Tahoma"/>
              </a:rPr>
              <a:t> </a:t>
            </a:r>
            <a:r>
              <a:rPr dirty="0" spc="-35" b="0">
                <a:latin typeface="Tahoma"/>
                <a:cs typeface="Tahoma"/>
              </a:rPr>
              <a:t>50</a:t>
            </a:r>
            <a:r>
              <a:rPr dirty="0" spc="-16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minutes</a:t>
            </a:r>
          </a:p>
          <a:p>
            <a:pPr marL="241300" marR="647065">
              <a:lnSpc>
                <a:spcPts val="2180"/>
              </a:lnSpc>
              <a:spcBef>
                <a:spcPts val="145"/>
              </a:spcBef>
            </a:pPr>
            <a:r>
              <a:rPr dirty="0" b="0">
                <a:latin typeface="Tahoma"/>
                <a:cs typeface="Tahoma"/>
              </a:rPr>
              <a:t>Mean</a:t>
            </a:r>
            <a:r>
              <a:rPr dirty="0" spc="-229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Anomaly</a:t>
            </a:r>
            <a:r>
              <a:rPr dirty="0" spc="-180" b="0">
                <a:latin typeface="Tahoma"/>
                <a:cs typeface="Tahoma"/>
              </a:rPr>
              <a:t> </a:t>
            </a:r>
            <a:r>
              <a:rPr dirty="0" spc="-25" b="0">
                <a:latin typeface="Tahoma"/>
                <a:cs typeface="Tahoma"/>
              </a:rPr>
              <a:t>Score:</a:t>
            </a:r>
            <a:r>
              <a:rPr dirty="0" spc="-21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0.7030 </a:t>
            </a:r>
            <a:r>
              <a:rPr dirty="0" b="0">
                <a:latin typeface="Tahoma"/>
                <a:cs typeface="Tahoma"/>
              </a:rPr>
              <a:t>Maximum</a:t>
            </a:r>
            <a:r>
              <a:rPr dirty="0" spc="-24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Anomaly</a:t>
            </a:r>
            <a:r>
              <a:rPr dirty="0" spc="-26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Score:</a:t>
            </a:r>
            <a:r>
              <a:rPr dirty="0" spc="-215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0.7406</a:t>
            </a:r>
          </a:p>
          <a:p>
            <a:pPr marL="239395" indent="-226695">
              <a:lnSpc>
                <a:spcPts val="2290"/>
              </a:lnSpc>
              <a:spcBef>
                <a:spcPts val="184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pc="-65"/>
              <a:t>Process</a:t>
            </a:r>
            <a:r>
              <a:rPr dirty="0" spc="-170"/>
              <a:t> </a:t>
            </a:r>
            <a:r>
              <a:rPr dirty="0" spc="-120"/>
              <a:t>Behaviour</a:t>
            </a:r>
            <a:r>
              <a:rPr dirty="0" spc="-170"/>
              <a:t> </a:t>
            </a:r>
            <a:r>
              <a:rPr dirty="0" spc="-135"/>
              <a:t>During</a:t>
            </a:r>
            <a:r>
              <a:rPr dirty="0" spc="-165"/>
              <a:t> </a:t>
            </a:r>
            <a:r>
              <a:rPr dirty="0" spc="-110"/>
              <a:t>the</a:t>
            </a:r>
            <a:r>
              <a:rPr dirty="0" spc="-100"/>
              <a:t> </a:t>
            </a:r>
            <a:r>
              <a:rPr dirty="0" spc="-10"/>
              <a:t>Period</a:t>
            </a:r>
          </a:p>
          <a:p>
            <a:pPr marL="239395" indent="-226695">
              <a:lnSpc>
                <a:spcPts val="218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pc="-40" b="0">
                <a:latin typeface="Tahoma"/>
                <a:cs typeface="Tahoma"/>
              </a:rPr>
              <a:t>Inlet</a:t>
            </a:r>
            <a:r>
              <a:rPr dirty="0" spc="-190" b="0">
                <a:latin typeface="Tahoma"/>
                <a:cs typeface="Tahoma"/>
              </a:rPr>
              <a:t> </a:t>
            </a:r>
            <a:r>
              <a:rPr dirty="0" spc="50" b="0">
                <a:latin typeface="Tahoma"/>
                <a:cs typeface="Tahoma"/>
              </a:rPr>
              <a:t>Gas</a:t>
            </a:r>
            <a:r>
              <a:rPr dirty="0" spc="-210" b="0">
                <a:latin typeface="Tahoma"/>
                <a:cs typeface="Tahoma"/>
              </a:rPr>
              <a:t> </a:t>
            </a:r>
            <a:r>
              <a:rPr dirty="0" spc="-60" b="0">
                <a:latin typeface="Tahoma"/>
                <a:cs typeface="Tahoma"/>
              </a:rPr>
              <a:t>Temperature</a:t>
            </a:r>
            <a:r>
              <a:rPr dirty="0" spc="-225" b="0">
                <a:latin typeface="Tahoma"/>
                <a:cs typeface="Tahoma"/>
              </a:rPr>
              <a:t> </a:t>
            </a:r>
            <a:r>
              <a:rPr dirty="0" spc="160" b="0">
                <a:latin typeface="Tahoma"/>
                <a:cs typeface="Tahoma"/>
              </a:rPr>
              <a:t>↓</a:t>
            </a:r>
          </a:p>
          <a:p>
            <a:pPr marL="239395" indent="-226695">
              <a:lnSpc>
                <a:spcPts val="2175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pc="50" b="0">
                <a:latin typeface="Tahoma"/>
                <a:cs typeface="Tahoma"/>
              </a:rPr>
              <a:t>Gas</a:t>
            </a:r>
            <a:r>
              <a:rPr dirty="0" spc="-150" b="0">
                <a:latin typeface="Tahoma"/>
                <a:cs typeface="Tahoma"/>
              </a:rPr>
              <a:t> </a:t>
            </a:r>
            <a:r>
              <a:rPr dirty="0" b="0">
                <a:latin typeface="Tahoma"/>
                <a:cs typeface="Tahoma"/>
              </a:rPr>
              <a:t>Outlet</a:t>
            </a:r>
            <a:r>
              <a:rPr dirty="0" spc="-195" b="0">
                <a:latin typeface="Tahoma"/>
                <a:cs typeface="Tahoma"/>
              </a:rPr>
              <a:t> </a:t>
            </a:r>
            <a:r>
              <a:rPr dirty="0" spc="-65" b="0">
                <a:latin typeface="Tahoma"/>
                <a:cs typeface="Tahoma"/>
              </a:rPr>
              <a:t>Temperature</a:t>
            </a:r>
            <a:r>
              <a:rPr dirty="0" spc="-155" b="0">
                <a:latin typeface="Tahoma"/>
                <a:cs typeface="Tahoma"/>
              </a:rPr>
              <a:t> </a:t>
            </a:r>
            <a:r>
              <a:rPr dirty="0" spc="160" b="0">
                <a:latin typeface="Tahoma"/>
                <a:cs typeface="Tahoma"/>
              </a:rPr>
              <a:t>↓</a:t>
            </a:r>
          </a:p>
          <a:p>
            <a:pPr marL="240029" indent="-227329">
              <a:lnSpc>
                <a:spcPts val="2180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pc="-10" b="0">
                <a:latin typeface="Tahoma"/>
                <a:cs typeface="Tahoma"/>
              </a:rPr>
              <a:t>Material</a:t>
            </a:r>
            <a:r>
              <a:rPr dirty="0" spc="-180" b="0">
                <a:latin typeface="Tahoma"/>
                <a:cs typeface="Tahoma"/>
              </a:rPr>
              <a:t> </a:t>
            </a:r>
            <a:r>
              <a:rPr dirty="0" spc="-60" b="0">
                <a:latin typeface="Tahoma"/>
                <a:cs typeface="Tahoma"/>
              </a:rPr>
              <a:t>Temperature</a:t>
            </a:r>
            <a:r>
              <a:rPr dirty="0" spc="-110" b="0">
                <a:latin typeface="Tahoma"/>
                <a:cs typeface="Tahoma"/>
              </a:rPr>
              <a:t> </a:t>
            </a:r>
            <a:r>
              <a:rPr dirty="0" spc="160" b="0">
                <a:latin typeface="Tahoma"/>
                <a:cs typeface="Tahoma"/>
              </a:rPr>
              <a:t>↓</a:t>
            </a:r>
          </a:p>
          <a:p>
            <a:pPr marL="239395" indent="-226695">
              <a:lnSpc>
                <a:spcPts val="214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b="0">
                <a:latin typeface="Tahoma"/>
                <a:cs typeface="Tahoma"/>
              </a:rPr>
              <a:t>Outlet</a:t>
            </a:r>
            <a:r>
              <a:rPr dirty="0" spc="-215" b="0">
                <a:latin typeface="Tahoma"/>
                <a:cs typeface="Tahoma"/>
              </a:rPr>
              <a:t> </a:t>
            </a:r>
            <a:r>
              <a:rPr dirty="0" spc="50" b="0">
                <a:latin typeface="Tahoma"/>
                <a:cs typeface="Tahoma"/>
              </a:rPr>
              <a:t>Gas</a:t>
            </a:r>
            <a:r>
              <a:rPr dirty="0" spc="-160" b="0">
                <a:latin typeface="Tahoma"/>
                <a:cs typeface="Tahoma"/>
              </a:rPr>
              <a:t> </a:t>
            </a:r>
            <a:r>
              <a:rPr dirty="0" spc="-35" b="0">
                <a:latin typeface="Tahoma"/>
                <a:cs typeface="Tahoma"/>
              </a:rPr>
              <a:t>Draft</a:t>
            </a:r>
            <a:r>
              <a:rPr dirty="0" spc="-210" b="0">
                <a:latin typeface="Tahoma"/>
                <a:cs typeface="Tahoma"/>
              </a:rPr>
              <a:t> </a:t>
            </a:r>
            <a:r>
              <a:rPr dirty="0" spc="-800" b="0">
                <a:latin typeface="Tahoma"/>
                <a:cs typeface="Tahoma"/>
              </a:rPr>
              <a:t>→</a:t>
            </a:r>
            <a:r>
              <a:rPr dirty="0" spc="-250" b="0">
                <a:latin typeface="Tahoma"/>
                <a:cs typeface="Tahoma"/>
              </a:rPr>
              <a:t> </a:t>
            </a:r>
            <a:r>
              <a:rPr dirty="0" spc="-45" b="0">
                <a:latin typeface="Tahoma"/>
                <a:cs typeface="Tahoma"/>
              </a:rPr>
              <a:t>near-</a:t>
            </a:r>
            <a:r>
              <a:rPr dirty="0" spc="-30" b="0">
                <a:latin typeface="Tahoma"/>
                <a:cs typeface="Tahoma"/>
              </a:rPr>
              <a:t>zero</a:t>
            </a:r>
            <a:r>
              <a:rPr dirty="0" spc="-220" b="0">
                <a:latin typeface="Tahoma"/>
                <a:cs typeface="Tahoma"/>
              </a:rPr>
              <a:t> </a:t>
            </a:r>
            <a:r>
              <a:rPr dirty="0" spc="-85" b="0">
                <a:latin typeface="Tahoma"/>
                <a:cs typeface="Tahoma"/>
              </a:rPr>
              <a:t>/</a:t>
            </a:r>
            <a:r>
              <a:rPr dirty="0" spc="-16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positive</a:t>
            </a:r>
          </a:p>
          <a:p>
            <a:pPr marL="239395" indent="-226695">
              <a:lnSpc>
                <a:spcPts val="214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b="0">
                <a:latin typeface="Tahoma"/>
                <a:cs typeface="Tahoma"/>
              </a:rPr>
              <a:t>Cone</a:t>
            </a:r>
            <a:r>
              <a:rPr dirty="0" spc="-200" b="0">
                <a:latin typeface="Tahoma"/>
                <a:cs typeface="Tahoma"/>
              </a:rPr>
              <a:t> </a:t>
            </a:r>
            <a:r>
              <a:rPr dirty="0" spc="-35" b="0">
                <a:latin typeface="Tahoma"/>
                <a:cs typeface="Tahoma"/>
              </a:rPr>
              <a:t>Draft</a:t>
            </a:r>
            <a:r>
              <a:rPr dirty="0" spc="-155" b="0">
                <a:latin typeface="Tahoma"/>
                <a:cs typeface="Tahoma"/>
              </a:rPr>
              <a:t> </a:t>
            </a:r>
            <a:r>
              <a:rPr dirty="0" spc="-800" b="0">
                <a:latin typeface="Tahoma"/>
                <a:cs typeface="Tahoma"/>
              </a:rPr>
              <a:t>→</a:t>
            </a:r>
            <a:r>
              <a:rPr dirty="0" spc="-105" b="0">
                <a:latin typeface="Tahoma"/>
                <a:cs typeface="Tahoma"/>
              </a:rPr>
              <a:t> </a:t>
            </a:r>
            <a:r>
              <a:rPr dirty="0" spc="-50" b="0">
                <a:latin typeface="Tahoma"/>
                <a:cs typeface="Tahoma"/>
              </a:rPr>
              <a:t>near-</a:t>
            </a:r>
            <a:r>
              <a:rPr dirty="0" spc="-20" b="0">
                <a:latin typeface="Tahoma"/>
                <a:cs typeface="Tahoma"/>
              </a:rPr>
              <a:t>zero</a:t>
            </a:r>
          </a:p>
          <a:p>
            <a:pPr marL="239395" indent="-226695">
              <a:lnSpc>
                <a:spcPts val="2290"/>
              </a:lnSpc>
              <a:buFont typeface="Arial MT"/>
              <a:buChar char="•"/>
              <a:tabLst>
                <a:tab pos="239395" algn="l"/>
              </a:tabLst>
            </a:pPr>
            <a:r>
              <a:rPr dirty="0" spc="-40" b="0">
                <a:latin typeface="Tahoma"/>
                <a:cs typeface="Tahoma"/>
              </a:rPr>
              <a:t>Inlet</a:t>
            </a:r>
            <a:r>
              <a:rPr dirty="0" spc="-210" b="0">
                <a:latin typeface="Tahoma"/>
                <a:cs typeface="Tahoma"/>
              </a:rPr>
              <a:t> </a:t>
            </a:r>
            <a:r>
              <a:rPr dirty="0" spc="-35" b="0">
                <a:latin typeface="Tahoma"/>
                <a:cs typeface="Tahoma"/>
              </a:rPr>
              <a:t>Draft</a:t>
            </a:r>
            <a:r>
              <a:rPr dirty="0" spc="-210" b="0">
                <a:latin typeface="Tahoma"/>
                <a:cs typeface="Tahoma"/>
              </a:rPr>
              <a:t> </a:t>
            </a:r>
            <a:r>
              <a:rPr dirty="0" spc="-800" b="0">
                <a:latin typeface="Tahoma"/>
                <a:cs typeface="Tahoma"/>
              </a:rPr>
              <a:t>→</a:t>
            </a:r>
            <a:r>
              <a:rPr dirty="0" spc="-245" b="0">
                <a:latin typeface="Tahoma"/>
                <a:cs typeface="Tahoma"/>
              </a:rPr>
              <a:t> </a:t>
            </a:r>
            <a:r>
              <a:rPr dirty="0" spc="-45" b="0">
                <a:latin typeface="Tahoma"/>
                <a:cs typeface="Tahoma"/>
              </a:rPr>
              <a:t>near-</a:t>
            </a:r>
            <a:r>
              <a:rPr dirty="0" spc="-30" b="0">
                <a:latin typeface="Tahoma"/>
                <a:cs typeface="Tahoma"/>
              </a:rPr>
              <a:t>zero</a:t>
            </a:r>
            <a:r>
              <a:rPr dirty="0" spc="-220" b="0">
                <a:latin typeface="Tahoma"/>
                <a:cs typeface="Tahoma"/>
              </a:rPr>
              <a:t> </a:t>
            </a:r>
            <a:r>
              <a:rPr dirty="0" spc="-85" b="0">
                <a:latin typeface="Tahoma"/>
                <a:cs typeface="Tahoma"/>
              </a:rPr>
              <a:t>/</a:t>
            </a:r>
            <a:r>
              <a:rPr dirty="0" spc="-160" b="0">
                <a:latin typeface="Tahoma"/>
                <a:cs typeface="Tahoma"/>
              </a:rPr>
              <a:t> </a:t>
            </a:r>
            <a:r>
              <a:rPr dirty="0" spc="-10" b="0">
                <a:latin typeface="Tahoma"/>
                <a:cs typeface="Tahoma"/>
              </a:rPr>
              <a:t>positive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39585" y="2131884"/>
            <a:ext cx="4890135" cy="3096895"/>
          </a:xfrm>
          <a:prstGeom prst="rect">
            <a:avLst/>
          </a:prstGeom>
        </p:spPr>
        <p:txBody>
          <a:bodyPr wrap="square" lIns="0" tIns="5016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95" b="1">
                <a:latin typeface="Tahoma"/>
                <a:cs typeface="Tahoma"/>
              </a:rPr>
              <a:t>Observed</a:t>
            </a:r>
            <a:r>
              <a:rPr dirty="0" sz="2000" spc="-165" b="1">
                <a:latin typeface="Tahoma"/>
                <a:cs typeface="Tahoma"/>
              </a:rPr>
              <a:t> </a:t>
            </a:r>
            <a:r>
              <a:rPr dirty="0" sz="2000" spc="-70" b="1">
                <a:latin typeface="Tahoma"/>
                <a:cs typeface="Tahoma"/>
              </a:rPr>
              <a:t>Process</a:t>
            </a:r>
            <a:r>
              <a:rPr dirty="0" sz="2000" spc="-85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Changes</a:t>
            </a: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40">
                <a:latin typeface="Tahoma"/>
                <a:cs typeface="Tahoma"/>
              </a:rPr>
              <a:t>Inlet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Gas</a:t>
            </a:r>
            <a:r>
              <a:rPr dirty="0" sz="2000" spc="-229">
                <a:latin typeface="Tahoma"/>
                <a:cs typeface="Tahoma"/>
              </a:rPr>
              <a:t> </a:t>
            </a:r>
            <a:r>
              <a:rPr dirty="0" sz="2000" spc="-60">
                <a:latin typeface="Tahoma"/>
                <a:cs typeface="Tahoma"/>
              </a:rPr>
              <a:t>Temperature</a:t>
            </a:r>
            <a:r>
              <a:rPr dirty="0" sz="2000" spc="-190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-</a:t>
            </a:r>
            <a:r>
              <a:rPr dirty="0" sz="2000" spc="-195">
                <a:latin typeface="Tahoma"/>
                <a:cs typeface="Tahoma"/>
              </a:rPr>
              <a:t> </a:t>
            </a:r>
            <a:r>
              <a:rPr dirty="0" sz="2000" spc="-195" b="1">
                <a:latin typeface="Tahoma"/>
                <a:cs typeface="Tahoma"/>
              </a:rPr>
              <a:t>911.28</a:t>
            </a:r>
            <a:r>
              <a:rPr dirty="0" sz="2000" spc="-210" b="1">
                <a:latin typeface="Tahoma"/>
                <a:cs typeface="Tahoma"/>
              </a:rPr>
              <a:t> </a:t>
            </a:r>
            <a:r>
              <a:rPr dirty="0" sz="2000" spc="-800" b="1">
                <a:latin typeface="Tahoma"/>
                <a:cs typeface="Tahoma"/>
              </a:rPr>
              <a:t>→</a:t>
            </a:r>
            <a:r>
              <a:rPr dirty="0" sz="2000" spc="-114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750.47</a:t>
            </a: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50">
                <a:latin typeface="Tahoma"/>
                <a:cs typeface="Tahoma"/>
              </a:rPr>
              <a:t>Gas</a:t>
            </a:r>
            <a:r>
              <a:rPr dirty="0" sz="2000" spc="-160">
                <a:latin typeface="Tahoma"/>
                <a:cs typeface="Tahoma"/>
              </a:rPr>
              <a:t> </a:t>
            </a:r>
            <a:r>
              <a:rPr dirty="0" sz="2000">
                <a:latin typeface="Tahoma"/>
                <a:cs typeface="Tahoma"/>
              </a:rPr>
              <a:t>Outlet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-65">
                <a:latin typeface="Tahoma"/>
                <a:cs typeface="Tahoma"/>
              </a:rPr>
              <a:t>Temperature</a:t>
            </a:r>
            <a:r>
              <a:rPr dirty="0" sz="2000" spc="-155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-</a:t>
            </a:r>
            <a:r>
              <a:rPr dirty="0" sz="2000" spc="-200">
                <a:latin typeface="Tahoma"/>
                <a:cs typeface="Tahoma"/>
              </a:rPr>
              <a:t> </a:t>
            </a:r>
            <a:r>
              <a:rPr dirty="0" sz="2000" spc="-195" b="1">
                <a:latin typeface="Tahoma"/>
                <a:cs typeface="Tahoma"/>
              </a:rPr>
              <a:t>866.23</a:t>
            </a:r>
            <a:r>
              <a:rPr dirty="0" sz="2000" spc="-220" b="1">
                <a:latin typeface="Tahoma"/>
                <a:cs typeface="Tahoma"/>
              </a:rPr>
              <a:t> </a:t>
            </a:r>
            <a:r>
              <a:rPr dirty="0" sz="2000" spc="-800" b="1">
                <a:latin typeface="Tahoma"/>
                <a:cs typeface="Tahoma"/>
              </a:rPr>
              <a:t>→</a:t>
            </a:r>
            <a:r>
              <a:rPr dirty="0" sz="2000" spc="-120" b="1">
                <a:latin typeface="Tahoma"/>
                <a:cs typeface="Tahoma"/>
              </a:rPr>
              <a:t> </a:t>
            </a:r>
            <a:r>
              <a:rPr dirty="0" sz="2000" spc="-45" b="1">
                <a:latin typeface="Tahoma"/>
                <a:cs typeface="Tahoma"/>
              </a:rPr>
              <a:t>716.14</a:t>
            </a: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10">
                <a:latin typeface="Tahoma"/>
                <a:cs typeface="Tahoma"/>
              </a:rPr>
              <a:t>Material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60">
                <a:latin typeface="Tahoma"/>
                <a:cs typeface="Tahoma"/>
              </a:rPr>
              <a:t>Temperature</a:t>
            </a:r>
            <a:r>
              <a:rPr dirty="0" sz="2000" spc="-165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-</a:t>
            </a:r>
            <a:r>
              <a:rPr dirty="0" sz="2000" spc="-180">
                <a:latin typeface="Tahoma"/>
                <a:cs typeface="Tahoma"/>
              </a:rPr>
              <a:t> </a:t>
            </a:r>
            <a:r>
              <a:rPr dirty="0" sz="2000" spc="-195" b="1">
                <a:latin typeface="Tahoma"/>
                <a:cs typeface="Tahoma"/>
              </a:rPr>
              <a:t>951.90</a:t>
            </a:r>
            <a:r>
              <a:rPr dirty="0" sz="2000" spc="-204" b="1">
                <a:latin typeface="Tahoma"/>
                <a:cs typeface="Tahoma"/>
              </a:rPr>
              <a:t> </a:t>
            </a:r>
            <a:r>
              <a:rPr dirty="0" sz="2000" spc="-800" b="1">
                <a:latin typeface="Tahoma"/>
                <a:cs typeface="Tahoma"/>
              </a:rPr>
              <a:t>→</a:t>
            </a:r>
            <a:r>
              <a:rPr dirty="0" sz="2000" spc="-100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547.53</a:t>
            </a: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380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Outlet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50">
                <a:latin typeface="Tahoma"/>
                <a:cs typeface="Tahoma"/>
              </a:rPr>
              <a:t>Gas</a:t>
            </a:r>
            <a:r>
              <a:rPr dirty="0" sz="2000" spc="-165">
                <a:latin typeface="Tahoma"/>
                <a:cs typeface="Tahoma"/>
              </a:rPr>
              <a:t> </a:t>
            </a:r>
            <a:r>
              <a:rPr dirty="0" sz="2000" spc="-35">
                <a:latin typeface="Tahoma"/>
                <a:cs typeface="Tahoma"/>
              </a:rPr>
              <a:t>Draft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-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-195" b="1">
                <a:latin typeface="Tahoma"/>
                <a:cs typeface="Tahoma"/>
              </a:rPr>
              <a:t>-252.02</a:t>
            </a:r>
            <a:r>
              <a:rPr dirty="0" sz="2000" spc="-225" b="1">
                <a:latin typeface="Tahoma"/>
                <a:cs typeface="Tahoma"/>
              </a:rPr>
              <a:t> </a:t>
            </a:r>
            <a:r>
              <a:rPr dirty="0" sz="2000" spc="-800" b="1">
                <a:latin typeface="Tahoma"/>
                <a:cs typeface="Tahoma"/>
              </a:rPr>
              <a:t>→</a:t>
            </a:r>
            <a:r>
              <a:rPr dirty="0" sz="2000" spc="-130" b="1">
                <a:latin typeface="Tahoma"/>
                <a:cs typeface="Tahoma"/>
              </a:rPr>
              <a:t> </a:t>
            </a:r>
            <a:r>
              <a:rPr dirty="0" sz="2000" spc="-10" b="1">
                <a:latin typeface="Tahoma"/>
                <a:cs typeface="Tahoma"/>
              </a:rPr>
              <a:t>19.52</a:t>
            </a: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>
                <a:latin typeface="Tahoma"/>
                <a:cs typeface="Tahoma"/>
              </a:rPr>
              <a:t>Cone</a:t>
            </a:r>
            <a:r>
              <a:rPr dirty="0" sz="2000" spc="-220">
                <a:latin typeface="Tahoma"/>
                <a:cs typeface="Tahoma"/>
              </a:rPr>
              <a:t> </a:t>
            </a:r>
            <a:r>
              <a:rPr dirty="0" sz="2000" spc="-35">
                <a:latin typeface="Tahoma"/>
                <a:cs typeface="Tahoma"/>
              </a:rPr>
              <a:t>Draft</a:t>
            </a:r>
            <a:r>
              <a:rPr dirty="0" sz="2000" spc="-135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-</a:t>
            </a:r>
            <a:r>
              <a:rPr dirty="0" sz="2000" spc="-170">
                <a:latin typeface="Tahoma"/>
                <a:cs typeface="Tahoma"/>
              </a:rPr>
              <a:t> </a:t>
            </a:r>
            <a:r>
              <a:rPr dirty="0" sz="2000" spc="-195" b="1">
                <a:latin typeface="Tahoma"/>
                <a:cs typeface="Tahoma"/>
              </a:rPr>
              <a:t>-252.01</a:t>
            </a:r>
            <a:r>
              <a:rPr dirty="0" sz="2000" spc="-200" b="1">
                <a:latin typeface="Tahoma"/>
                <a:cs typeface="Tahoma"/>
              </a:rPr>
              <a:t> </a:t>
            </a:r>
            <a:r>
              <a:rPr dirty="0" sz="2000" spc="-800" b="1">
                <a:latin typeface="Tahoma"/>
                <a:cs typeface="Tahoma"/>
              </a:rPr>
              <a:t>→</a:t>
            </a:r>
            <a:r>
              <a:rPr dirty="0" sz="2000" spc="-110" b="1">
                <a:latin typeface="Tahoma"/>
                <a:cs typeface="Tahoma"/>
              </a:rPr>
              <a:t> </a:t>
            </a:r>
            <a:r>
              <a:rPr dirty="0" sz="2000" spc="-195" b="1">
                <a:latin typeface="Tahoma"/>
                <a:cs typeface="Tahoma"/>
              </a:rPr>
              <a:t>-</a:t>
            </a:r>
            <a:r>
              <a:rPr dirty="0" sz="2000" spc="-20" b="1">
                <a:latin typeface="Tahoma"/>
                <a:cs typeface="Tahoma"/>
              </a:rPr>
              <a:t>4.23</a:t>
            </a:r>
            <a:endParaRPr sz="2000">
              <a:latin typeface="Tahoma"/>
              <a:cs typeface="Tahoma"/>
            </a:endParaRPr>
          </a:p>
          <a:p>
            <a:pPr marL="239395" indent="-22669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39395" algn="l"/>
              </a:tabLst>
            </a:pPr>
            <a:r>
              <a:rPr dirty="0" sz="2000" spc="-40">
                <a:latin typeface="Tahoma"/>
                <a:cs typeface="Tahoma"/>
              </a:rPr>
              <a:t>Inlet</a:t>
            </a:r>
            <a:r>
              <a:rPr dirty="0" sz="2000" spc="-215">
                <a:latin typeface="Tahoma"/>
                <a:cs typeface="Tahoma"/>
              </a:rPr>
              <a:t> </a:t>
            </a:r>
            <a:r>
              <a:rPr dirty="0" sz="2000" spc="-35">
                <a:latin typeface="Tahoma"/>
                <a:cs typeface="Tahoma"/>
              </a:rPr>
              <a:t>Draft</a:t>
            </a:r>
            <a:r>
              <a:rPr dirty="0" sz="2000" spc="-210">
                <a:latin typeface="Tahoma"/>
                <a:cs typeface="Tahoma"/>
              </a:rPr>
              <a:t> </a:t>
            </a:r>
            <a:r>
              <a:rPr dirty="0" sz="2000" spc="-45">
                <a:latin typeface="Tahoma"/>
                <a:cs typeface="Tahoma"/>
              </a:rPr>
              <a:t>-</a:t>
            </a:r>
            <a:r>
              <a:rPr dirty="0" sz="2000" spc="-204">
                <a:latin typeface="Tahoma"/>
                <a:cs typeface="Tahoma"/>
              </a:rPr>
              <a:t> </a:t>
            </a:r>
            <a:r>
              <a:rPr dirty="0" sz="2000" spc="-320" b="1">
                <a:latin typeface="Tahoma"/>
                <a:cs typeface="Tahoma"/>
              </a:rPr>
              <a:t>-</a:t>
            </a:r>
            <a:r>
              <a:rPr dirty="0" sz="2000" spc="-195" b="1">
                <a:latin typeface="Tahoma"/>
                <a:cs typeface="Tahoma"/>
              </a:rPr>
              <a:t>193.86</a:t>
            </a:r>
            <a:r>
              <a:rPr dirty="0" sz="2000" spc="-220" b="1">
                <a:latin typeface="Tahoma"/>
                <a:cs typeface="Tahoma"/>
              </a:rPr>
              <a:t> </a:t>
            </a:r>
            <a:r>
              <a:rPr dirty="0" sz="2000" spc="-800" b="1">
                <a:latin typeface="Tahoma"/>
                <a:cs typeface="Tahoma"/>
              </a:rPr>
              <a:t>→</a:t>
            </a:r>
            <a:r>
              <a:rPr dirty="0" sz="2000" spc="-130" b="1">
                <a:latin typeface="Tahoma"/>
                <a:cs typeface="Tahoma"/>
              </a:rPr>
              <a:t> </a:t>
            </a:r>
            <a:r>
              <a:rPr dirty="0" sz="2000" spc="-20" b="1">
                <a:latin typeface="Tahoma"/>
                <a:cs typeface="Tahoma"/>
              </a:rPr>
              <a:t>16.99</a:t>
            </a:r>
            <a:endParaRPr sz="2000">
              <a:latin typeface="Tahoma"/>
              <a:cs typeface="Tahoma"/>
            </a:endParaRPr>
          </a:p>
          <a:p>
            <a:pPr marL="240029" indent="-227329">
              <a:lnSpc>
                <a:spcPts val="2290"/>
              </a:lnSpc>
              <a:spcBef>
                <a:spcPts val="38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000" spc="-60" i="1">
                <a:latin typeface="Arial"/>
                <a:cs typeface="Arial"/>
              </a:rPr>
              <a:t>Values</a:t>
            </a:r>
            <a:r>
              <a:rPr dirty="0" sz="2000" spc="-175" i="1">
                <a:latin typeface="Arial"/>
                <a:cs typeface="Arial"/>
              </a:rPr>
              <a:t> </a:t>
            </a:r>
            <a:r>
              <a:rPr dirty="0" sz="2000" spc="-30" i="1">
                <a:latin typeface="Arial"/>
                <a:cs typeface="Arial"/>
              </a:rPr>
              <a:t>shown</a:t>
            </a:r>
            <a:r>
              <a:rPr dirty="0" sz="2000" spc="-80" i="1">
                <a:latin typeface="Arial"/>
                <a:cs typeface="Arial"/>
              </a:rPr>
              <a:t> </a:t>
            </a:r>
            <a:r>
              <a:rPr dirty="0" sz="2000" spc="-50" i="1">
                <a:latin typeface="Arial"/>
                <a:cs typeface="Arial"/>
              </a:rPr>
              <a:t>as</a:t>
            </a:r>
            <a:r>
              <a:rPr dirty="0" sz="2000" spc="-175" i="1">
                <a:latin typeface="Arial"/>
                <a:cs typeface="Arial"/>
              </a:rPr>
              <a:t> </a:t>
            </a:r>
            <a:r>
              <a:rPr dirty="0" sz="2000" spc="-40" i="1">
                <a:latin typeface="Arial"/>
                <a:cs typeface="Arial"/>
              </a:rPr>
              <a:t>1</a:t>
            </a:r>
            <a:r>
              <a:rPr dirty="0" sz="2000" spc="-125" i="1">
                <a:latin typeface="Arial"/>
                <a:cs typeface="Arial"/>
              </a:rPr>
              <a:t> </a:t>
            </a:r>
            <a:r>
              <a:rPr dirty="0" sz="2000" spc="-25" i="1">
                <a:latin typeface="Arial"/>
                <a:cs typeface="Arial"/>
              </a:rPr>
              <a:t>hour</a:t>
            </a:r>
            <a:r>
              <a:rPr dirty="0" sz="2000" spc="-165" i="1">
                <a:latin typeface="Arial"/>
                <a:cs typeface="Arial"/>
              </a:rPr>
              <a:t> </a:t>
            </a:r>
            <a:r>
              <a:rPr dirty="0" sz="2000" spc="-30" i="1">
                <a:latin typeface="Arial"/>
                <a:cs typeface="Arial"/>
              </a:rPr>
              <a:t>before</a:t>
            </a:r>
            <a:r>
              <a:rPr dirty="0" sz="2000" spc="-190" i="1">
                <a:latin typeface="Arial"/>
                <a:cs typeface="Arial"/>
              </a:rPr>
              <a:t> </a:t>
            </a:r>
            <a:r>
              <a:rPr dirty="0" sz="2000" spc="-800" i="1">
                <a:latin typeface="Arial"/>
                <a:cs typeface="Arial"/>
              </a:rPr>
              <a:t>→</a:t>
            </a:r>
            <a:r>
              <a:rPr dirty="0" sz="2000" spc="-105" i="1">
                <a:latin typeface="Arial"/>
                <a:cs typeface="Arial"/>
              </a:rPr>
              <a:t> </a:t>
            </a:r>
            <a:r>
              <a:rPr dirty="0" sz="2000" spc="-10" i="1">
                <a:latin typeface="Arial"/>
                <a:cs typeface="Arial"/>
              </a:rPr>
              <a:t>abnormal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290"/>
              </a:lnSpc>
            </a:pPr>
            <a:r>
              <a:rPr dirty="0" sz="2000" spc="-10" i="1">
                <a:latin typeface="Arial"/>
                <a:cs typeface="Arial"/>
              </a:rPr>
              <a:t>period</a:t>
            </a:r>
            <a:r>
              <a:rPr dirty="0" sz="2000" spc="-170" i="1">
                <a:latin typeface="Arial"/>
                <a:cs typeface="Arial"/>
              </a:rPr>
              <a:t> </a:t>
            </a:r>
            <a:r>
              <a:rPr dirty="0" sz="2000" spc="-10" i="1">
                <a:latin typeface="Arial"/>
                <a:cs typeface="Arial"/>
              </a:rPr>
              <a:t>average.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2026-10-07T09:21:42Z</dcterms:created>
  <dcterms:modified xsi:type="dcterms:W3CDTF">2026-10-07T09:21:42Z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2026-10-07T00:00:00Z</vt:filetime>
  </property>
  <property fmtid="{D5CDD505-2E9C-101B-9397-08002B2CF9AE}" pid="4" name="LastSaved">
    <vt:filetime>2026-10-07T00:00:00Z</vt:filetime>
  </property>
</Properties>
</file>